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Pausa de 2 segundos. 'GoTrends — agente de IA para Google Ads. O piloto está rodando dentro da conta da Kokeshi.'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Hook. 'Todo mês a nossa conta de Google Ads recebe cento e trinta e sete mil termos de busca.' Pausa. 'A análise existia. A inteligência de negócio dentro dela, não.'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Processo atual. À esquerda o que se faz hoje, à direita o que sai dessa fila. Quatro horas por semana. Doze mil reais por mês de termos eficientes subinvestidos e desperdício, só na Kokeshi. Vezes sete marcas.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Solução. 'Não é dashboard. É decisão.' Cinco camadas — contexto, intenção, impacto, decisão, cruzamento orgânico. No rodapé: entra termo bruto, sai ação priorizada com impacto em reais e o porquê escrito do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Stack. Slide-prova de produto. Aponte: Google Ads e Search Console entram pelo MCP Server, viram contexto pra Claude com 12 frameworks, processam num pipeline de cinco etapas, e saem no Streamlit em tempo real. Aponte o QR: 'pode escanear agora — está no ar.' Segurança e OAuth são transversais. Zero execução automática.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Diferencial. Slide-âncora. 'Antes de gastar. Não depois.' Lançamento marcado para 30 de abril, seis keywords prontas. Concorrente avisa o passado, GoTrends prepara o futuro.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Prova. Quatro números. Cento e trinta e sete mil termos. Doze mil reais em oportunidade. ROAS de vinte e um vírgula sete na branded. Menos de três segundos pra carregar. Cento e quatro mil reais de investimento gerenciado no mês — essa é a escala da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Escala. A Kokeshi é uma de sete. Trocar de marca é trocar um arquivo de contexto. Mesmo agente, mesma stack, mesmo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'O analista continua aqui. Agora com o contexto do negócio inteiro na mesa.' Pausa. 'Obrigado.'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0500" y="2378869"/>
            <a:ext cx="2667000" cy="2667000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0500" y="2378869"/>
            <a:ext cx="2667000" cy="266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27514" y="5426869"/>
            <a:ext cx="6831808" cy="144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0" b="1" spc="-33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pPr algn="l" indent="0" marL="0">
              <a:lnSpc>
                <a:spcPct val="100000"/>
              </a:lnSpc>
              <a:buNone/>
            </a:pPr>
            <a:r>
              <a:rPr lang="en-US" sz="11100" b="1" spc="-333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</a:t>
            </a:r>
            <a:endParaRPr lang="en-US" sz="11100" dirty="0"/>
          </a:p>
        </p:txBody>
      </p:sp>
      <p:sp>
        <p:nvSpPr>
          <p:cNvPr id="5" name="Text 2"/>
          <p:cNvSpPr/>
          <p:nvPr/>
        </p:nvSpPr>
        <p:spPr>
          <a:xfrm>
            <a:off x="7186017" y="7008019"/>
            <a:ext cx="403344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72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IA PARA GOOGLE ADS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35575" y="7549009"/>
            <a:ext cx="5816702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copiloto de mídia que </a:t>
            </a:r>
            <a:pPr algn="ctr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conhece o seu negócio</a:t>
            </a:r>
            <a:pPr algn="ctr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-274320" y="9484072"/>
            <a:ext cx="1883664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50" spc="33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GOGROUP · PILOTO · KOKESHI / GOBEAUTE ·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4796"/>
            <a:ext cx="133350" cy="1333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457200"/>
            <a:ext cx="914251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GoTrends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5851" y="457200"/>
            <a:ext cx="9525" cy="24854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28726" y="457200"/>
            <a:ext cx="476548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6734979" y="457200"/>
            <a:ext cx="714821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721322"/>
            <a:ext cx="2477095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31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MÊS, NA SUA CONTA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3371850"/>
            <a:ext cx="12078295" cy="3076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71850"/>
            <a:ext cx="12440644" cy="3114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8500" b="1" spc="-1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137.242</a:t>
            </a:r>
            <a:endParaRPr lang="en-US" sz="28500" dirty="0"/>
          </a:p>
        </p:txBody>
      </p:sp>
      <p:sp>
        <p:nvSpPr>
          <p:cNvPr id="10" name="Text 8"/>
          <p:cNvSpPr/>
          <p:nvPr/>
        </p:nvSpPr>
        <p:spPr>
          <a:xfrm>
            <a:off x="914400" y="6677025"/>
            <a:ext cx="583479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termos de busca. </a:t>
            </a:r>
            <a:pPr algn="l" indent="0" marL="0">
              <a:lnSpc>
                <a:spcPct val="125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mês.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7558088"/>
            <a:ext cx="642159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análise existia. A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de negócio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dela, não.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67418" y="8774013"/>
            <a:ext cx="758708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5000"/>
              </a:lnSpc>
              <a:buNone/>
            </a:pPr>
            <a:r>
              <a:rPr lang="en-US" sz="975" spc="17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143.747 PONTOS DE DADO · 110 CAMPANHAS · 6.505 TERMOS CRUZADOS PAGO × ORGÂNICO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4796"/>
            <a:ext cx="133350" cy="1333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457200"/>
            <a:ext cx="914251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GoTrends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5851" y="457200"/>
            <a:ext cx="9525" cy="24854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28726" y="457200"/>
            <a:ext cx="1048345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é hoje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6732746" y="457200"/>
            <a:ext cx="717054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047750"/>
            <a:ext cx="1695297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31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PROCESSO ATUAL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469678"/>
            <a:ext cx="1471612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decisão custa </a:t>
            </a:r>
            <a:pPr algn="l" indent="0" marL="0">
              <a:lnSpc>
                <a:spcPct val="105000"/>
              </a:lnSpc>
              <a:buNone/>
            </a:pPr>
            <a:r>
              <a:rPr lang="en-US" sz="4800" b="1" spc="-72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horas </a:t>
            </a:r>
            <a:pPr algn="l" indent="0" marL="0">
              <a:lnSpc>
                <a:spcPct val="105000"/>
              </a:lnSpc>
              <a:buNone/>
            </a:pPr>
            <a:r>
              <a:rPr lang="en-US" sz="48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ainda assim chega tarde.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914400" y="3359200"/>
            <a:ext cx="8077200" cy="3203525"/>
          </a:xfrm>
          <a:prstGeom prst="roundRect">
            <a:avLst>
              <a:gd name="adj" fmla="val 5352"/>
            </a:avLst>
          </a:prstGeom>
          <a:solidFill>
            <a:srgbClr val="161616"/>
          </a:solidFill>
          <a:ln w="9525">
            <a:solidFill>
              <a:srgbClr val="E74C3C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3697784"/>
            <a:ext cx="231978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15" kern="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· PROCESSO MANUAL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3643759" y="3673525"/>
            <a:ext cx="873175" cy="247055"/>
          </a:xfrm>
          <a:prstGeom prst="roundRect">
            <a:avLst>
              <a:gd name="adj" fmla="val 50000"/>
            </a:avLst>
          </a:prstGeom>
          <a:solidFill>
            <a:srgbClr val="E74C3C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758059" y="3721150"/>
            <a:ext cx="720775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215" kern="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REATIVO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1266825" y="4092029"/>
            <a:ext cx="285750" cy="285750"/>
          </a:xfrm>
          <a:prstGeom prst="ellipse">
            <a:avLst/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250" y="4101554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704975" y="4096792"/>
            <a:ext cx="269151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 CSV do Google Ads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66825" y="4473029"/>
            <a:ext cx="285750" cy="285750"/>
          </a:xfrm>
          <a:prstGeom prst="ellipse">
            <a:avLst/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4482554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704975" y="4477792"/>
            <a:ext cx="29564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 tabela dinâmica no Excel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66825" y="4854029"/>
            <a:ext cx="285750" cy="285750"/>
          </a:xfrm>
          <a:prstGeom prst="ellipse">
            <a:avLst/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8250" y="4863554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704975" y="4858792"/>
            <a:ext cx="27514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 no Slack o que fazer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266825" y="5235029"/>
            <a:ext cx="285750" cy="285750"/>
          </a:xfrm>
          <a:prstGeom prst="ellipse">
            <a:avLst/>
          </a:prstGeom>
          <a:solidFill>
            <a:srgbClr val="E74C3C">
              <a:alpha val="15000"/>
            </a:srgbClr>
          </a:solidFill>
          <a:ln w="9525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8250" y="5244554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704975" y="5239792"/>
            <a:ext cx="31656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Talvez alguém execute na sexta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266825" y="5768429"/>
            <a:ext cx="73723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66825" y="5949404"/>
            <a:ext cx="1612553" cy="298996"/>
          </a:xfrm>
          <a:prstGeom prst="roundRect">
            <a:avLst>
              <a:gd name="adj" fmla="val 50000"/>
            </a:avLst>
          </a:prstGeom>
          <a:solidFill>
            <a:srgbClr val="E74C3C">
              <a:alpha val="12000"/>
            </a:srgbClr>
          </a:solidFill>
          <a:ln w="9525">
            <a:solidFill>
              <a:srgbClr val="E74C3C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90650" y="6016079"/>
            <a:ext cx="1441103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intenção de busca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12728" y="5949404"/>
            <a:ext cx="1551533" cy="298996"/>
          </a:xfrm>
          <a:prstGeom prst="roundRect">
            <a:avLst>
              <a:gd name="adj" fmla="val 50000"/>
            </a:avLst>
          </a:prstGeom>
          <a:solidFill>
            <a:srgbClr val="E74C3C">
              <a:alpha val="12000"/>
            </a:srgbClr>
          </a:solidFill>
          <a:ln w="9525">
            <a:solidFill>
              <a:srgbClr val="E74C3C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36553" y="6016079"/>
            <a:ext cx="1380083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orgânico cruzado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97611" y="5949404"/>
            <a:ext cx="1303586" cy="298996"/>
          </a:xfrm>
          <a:prstGeom prst="roundRect">
            <a:avLst>
              <a:gd name="adj" fmla="val 50000"/>
            </a:avLst>
          </a:prstGeom>
          <a:solidFill>
            <a:srgbClr val="E74C3C">
              <a:alpha val="12000"/>
            </a:srgbClr>
          </a:solidFill>
          <a:ln w="9525">
            <a:solidFill>
              <a:srgbClr val="E74C3C">
                <a:alpha val="3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1436" y="6016079"/>
            <a:ext cx="1132136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lançamentos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296400" y="3359200"/>
            <a:ext cx="8077200" cy="3203525"/>
          </a:xfrm>
          <a:prstGeom prst="roundRect">
            <a:avLst>
              <a:gd name="adj" fmla="val 5352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48825" y="3673525"/>
            <a:ext cx="7593521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15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SAI DESSA FILA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9648825" y="4024461"/>
            <a:ext cx="285750" cy="285750"/>
          </a:xfrm>
          <a:prstGeom prst="ellipse">
            <a:avLst/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20250" y="4033986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10086975" y="4029224"/>
            <a:ext cx="41473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chega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o dinheiro saiu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648825" y="4405461"/>
            <a:ext cx="285750" cy="285750"/>
          </a:xfrm>
          <a:prstGeom prst="ellipse">
            <a:avLst/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20250" y="4414986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10086975" y="4410224"/>
            <a:ext cx="47724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Conhecimento mora na cabeça de uma pessoa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648825" y="4786461"/>
            <a:ext cx="285750" cy="285750"/>
          </a:xfrm>
          <a:prstGeom prst="ellipse">
            <a:avLst/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20250" y="4795986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0086975" y="4791224"/>
            <a:ext cx="569575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 sobe na sexta — keyword nasce na segunda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9648825" y="5167461"/>
            <a:ext cx="285750" cy="285750"/>
          </a:xfrm>
          <a:prstGeom prst="ellipse">
            <a:avLst/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20250" y="5176986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0086975" y="5172224"/>
            <a:ext cx="39675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erro repete na semana seguinte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9648825" y="5700861"/>
            <a:ext cx="7372350" cy="9525"/>
          </a:xfrm>
          <a:prstGeom prst="rect">
            <a:avLst/>
          </a:prstGeom>
          <a:solidFill>
            <a:srgbClr val="D94B4B">
              <a:alpha val="3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9648825" y="5881836"/>
            <a:ext cx="3050377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isso roda em 7 marcas — em paralelo, em silos.</a:t>
            </a:r>
            <a:endParaRPr lang="en-US" sz="975" dirty="0"/>
          </a:p>
        </p:txBody>
      </p:sp>
      <p:sp>
        <p:nvSpPr>
          <p:cNvPr id="48" name="Shape 46"/>
          <p:cNvSpPr/>
          <p:nvPr/>
        </p:nvSpPr>
        <p:spPr>
          <a:xfrm>
            <a:off x="914400" y="7019925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914400" y="7372350"/>
            <a:ext cx="533704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08" kern="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– 4h</a:t>
            </a:r>
            <a:endParaRPr lang="en-US" sz="5400" dirty="0"/>
          </a:p>
        </p:txBody>
      </p:sp>
      <p:sp>
        <p:nvSpPr>
          <p:cNvPr id="50" name="Text 48"/>
          <p:cNvSpPr/>
          <p:nvPr/>
        </p:nvSpPr>
        <p:spPr>
          <a:xfrm>
            <a:off x="914400" y="8153400"/>
            <a:ext cx="533704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trabalho manual 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semana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por marca.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553200" y="7372350"/>
            <a:ext cx="533704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08" kern="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R$ 12.109</a:t>
            </a:r>
            <a:endParaRPr lang="en-US" sz="5400" dirty="0"/>
          </a:p>
        </p:txBody>
      </p:sp>
      <p:sp>
        <p:nvSpPr>
          <p:cNvPr id="52" name="Text 50"/>
          <p:cNvSpPr/>
          <p:nvPr/>
        </p:nvSpPr>
        <p:spPr>
          <a:xfrm>
            <a:off x="6553200" y="8153400"/>
            <a:ext cx="5337048" cy="464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termos eficientes subinvestidos + desperdício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identificados na Kokeshi · últimos 30 dias.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2192000" y="7372350"/>
            <a:ext cx="533704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08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7</a:t>
            </a:r>
            <a:endParaRPr lang="en-US" sz="5400" dirty="0"/>
          </a:p>
        </p:txBody>
      </p:sp>
      <p:sp>
        <p:nvSpPr>
          <p:cNvPr id="54" name="Text 52"/>
          <p:cNvSpPr/>
          <p:nvPr/>
        </p:nvSpPr>
        <p:spPr>
          <a:xfrm>
            <a:off x="12192000" y="8153400"/>
            <a:ext cx="533704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marcas Gobeaute. 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problema, multiplicado.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99505"/>
            <a:ext cx="133350" cy="1333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741908"/>
            <a:ext cx="914251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GoTrends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5851" y="457200"/>
            <a:ext cx="9525" cy="30375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28726" y="457200"/>
            <a:ext cx="1096714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6725751" y="457200"/>
            <a:ext cx="72404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047750"/>
            <a:ext cx="1695297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31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APRESENTANDO · GOTRENDS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431578"/>
            <a:ext cx="1695297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13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dashboard. </a:t>
            </a:r>
            <a:pPr algn="l" indent="0" marL="0">
              <a:lnSpc>
                <a:spcPct val="100000"/>
              </a:lnSpc>
              <a:buNone/>
            </a:pPr>
            <a:r>
              <a:rPr lang="en-US" sz="6600" b="1" spc="-132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decisão.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914400" y="2441228"/>
            <a:ext cx="1177290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camadas que transformam termo de busca em ação priorizada com impacto em R$ — e o porquê escrito do lado.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6756797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563094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196655" y="3572619"/>
            <a:ext cx="9525" cy="318417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3915519"/>
            <a:ext cx="2831321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15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1181100" y="4247406"/>
            <a:ext cx="495300" cy="495300"/>
          </a:xfrm>
          <a:prstGeom prst="ellipse">
            <a:avLst/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925" y="4371231"/>
            <a:ext cx="247650" cy="2476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81100" y="4914156"/>
            <a:ext cx="2831321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181100" y="5269409"/>
            <a:ext cx="283132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Ticket, LTV e metas de CPA injetados no agente.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181100" y="6116836"/>
            <a:ext cx="274885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181100" y="6240661"/>
            <a:ext cx="2831321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R$ 90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· CPA alvo 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R$ 20</a:t>
            </a:r>
            <a:endParaRPr lang="en-US" sz="975" dirty="0"/>
          </a:p>
        </p:txBody>
      </p:sp>
      <p:sp>
        <p:nvSpPr>
          <p:cNvPr id="20" name="Shape 17"/>
          <p:cNvSpPr/>
          <p:nvPr/>
        </p:nvSpPr>
        <p:spPr>
          <a:xfrm>
            <a:off x="7488436" y="3572619"/>
            <a:ext cx="9525" cy="318417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4472880" y="3915519"/>
            <a:ext cx="2831321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15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4472880" y="4247406"/>
            <a:ext cx="495300" cy="495300"/>
          </a:xfrm>
          <a:prstGeom prst="ellipse">
            <a:avLst/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705" y="4371231"/>
            <a:ext cx="247650" cy="24765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472880" y="4914156"/>
            <a:ext cx="2831321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Intenção</a:t>
            </a:r>
            <a:endParaRPr lang="en-US" sz="1650" dirty="0"/>
          </a:p>
        </p:txBody>
      </p:sp>
      <p:sp>
        <p:nvSpPr>
          <p:cNvPr id="25" name="Text 21"/>
          <p:cNvSpPr/>
          <p:nvPr/>
        </p:nvSpPr>
        <p:spPr>
          <a:xfrm>
            <a:off x="4472880" y="5269409"/>
            <a:ext cx="283132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termo classificado em 6 perfis de comportamento.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472880" y="5770364"/>
            <a:ext cx="274885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4472880" y="5894189"/>
            <a:ext cx="2831321" cy="557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Comprador · Pesquisador · Caçador de brinde · Concorrente · Comparador · Ambíguo</a:t>
            </a:r>
            <a:endParaRPr lang="en-US" sz="975" dirty="0"/>
          </a:p>
        </p:txBody>
      </p:sp>
      <p:sp>
        <p:nvSpPr>
          <p:cNvPr id="28" name="Shape 24"/>
          <p:cNvSpPr/>
          <p:nvPr/>
        </p:nvSpPr>
        <p:spPr>
          <a:xfrm>
            <a:off x="10780365" y="3572619"/>
            <a:ext cx="9525" cy="318417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Text 25"/>
          <p:cNvSpPr/>
          <p:nvPr/>
        </p:nvSpPr>
        <p:spPr>
          <a:xfrm>
            <a:off x="7764661" y="3915519"/>
            <a:ext cx="2831474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15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75" dirty="0"/>
          </a:p>
        </p:txBody>
      </p:sp>
      <p:sp>
        <p:nvSpPr>
          <p:cNvPr id="30" name="Shape 26"/>
          <p:cNvSpPr/>
          <p:nvPr/>
        </p:nvSpPr>
        <p:spPr>
          <a:xfrm>
            <a:off x="7764661" y="4247406"/>
            <a:ext cx="495300" cy="495300"/>
          </a:xfrm>
          <a:prstGeom prst="ellipse">
            <a:avLst/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486" y="4371231"/>
            <a:ext cx="247650" cy="24765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764661" y="4914156"/>
            <a:ext cx="2831474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R$</a:t>
            </a:r>
            <a:endParaRPr lang="en-US" sz="1650" dirty="0"/>
          </a:p>
        </p:txBody>
      </p:sp>
      <p:sp>
        <p:nvSpPr>
          <p:cNvPr id="33" name="Text 28"/>
          <p:cNvSpPr/>
          <p:nvPr/>
        </p:nvSpPr>
        <p:spPr>
          <a:xfrm>
            <a:off x="7764661" y="5269409"/>
            <a:ext cx="283147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estimada e delta de oportunidade calculados.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7764661" y="5943600"/>
            <a:ext cx="2749004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5" name="Text 30"/>
          <p:cNvSpPr/>
          <p:nvPr/>
        </p:nvSpPr>
        <p:spPr>
          <a:xfrm>
            <a:off x="7764661" y="6067425"/>
            <a:ext cx="2831474" cy="384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ação mostra 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está sendo perdido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potencial.</a:t>
            </a:r>
            <a:endParaRPr lang="en-US" sz="975" dirty="0"/>
          </a:p>
        </p:txBody>
      </p:sp>
      <p:sp>
        <p:nvSpPr>
          <p:cNvPr id="36" name="Shape 31"/>
          <p:cNvSpPr/>
          <p:nvPr/>
        </p:nvSpPr>
        <p:spPr>
          <a:xfrm>
            <a:off x="14072146" y="3572619"/>
            <a:ext cx="9525" cy="318417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7" name="Text 32"/>
          <p:cNvSpPr/>
          <p:nvPr/>
        </p:nvSpPr>
        <p:spPr>
          <a:xfrm>
            <a:off x="11056590" y="3915519"/>
            <a:ext cx="2831321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15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75" dirty="0"/>
          </a:p>
        </p:txBody>
      </p:sp>
      <p:sp>
        <p:nvSpPr>
          <p:cNvPr id="38" name="Shape 33"/>
          <p:cNvSpPr/>
          <p:nvPr/>
        </p:nvSpPr>
        <p:spPr>
          <a:xfrm>
            <a:off x="11056590" y="4247406"/>
            <a:ext cx="495300" cy="495300"/>
          </a:xfrm>
          <a:prstGeom prst="ellipse">
            <a:avLst/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0415" y="4371231"/>
            <a:ext cx="247650" cy="24765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1056590" y="4914156"/>
            <a:ext cx="2831321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endParaRPr lang="en-US" sz="1650" dirty="0"/>
          </a:p>
        </p:txBody>
      </p:sp>
      <p:sp>
        <p:nvSpPr>
          <p:cNvPr id="41" name="Text 35"/>
          <p:cNvSpPr/>
          <p:nvPr/>
        </p:nvSpPr>
        <p:spPr>
          <a:xfrm>
            <a:off x="11056590" y="5269409"/>
            <a:ext cx="283132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regras de negócio geram 50+ ações priorizadas.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11056590" y="5943600"/>
            <a:ext cx="274885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11056590" y="6067425"/>
            <a:ext cx="2831321" cy="384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ação vem com 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razão explicada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nível de risco — zero caixa-preta.</a:t>
            </a:r>
            <a:endParaRPr lang="en-US" sz="975" dirty="0"/>
          </a:p>
        </p:txBody>
      </p:sp>
      <p:sp>
        <p:nvSpPr>
          <p:cNvPr id="44" name="Text 38"/>
          <p:cNvSpPr/>
          <p:nvPr/>
        </p:nvSpPr>
        <p:spPr>
          <a:xfrm>
            <a:off x="14348371" y="3915519"/>
            <a:ext cx="2841285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15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75" dirty="0"/>
          </a:p>
        </p:txBody>
      </p:sp>
      <p:sp>
        <p:nvSpPr>
          <p:cNvPr id="45" name="Shape 39"/>
          <p:cNvSpPr/>
          <p:nvPr/>
        </p:nvSpPr>
        <p:spPr>
          <a:xfrm>
            <a:off x="14348371" y="4247406"/>
            <a:ext cx="495300" cy="495300"/>
          </a:xfrm>
          <a:prstGeom prst="ellipse">
            <a:avLst/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2196" y="4371231"/>
            <a:ext cx="247650" cy="247650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14348371" y="4914156"/>
            <a:ext cx="2841285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× Orgânico</a:t>
            </a:r>
            <a:endParaRPr lang="en-US" sz="1650" dirty="0"/>
          </a:p>
        </p:txBody>
      </p:sp>
      <p:sp>
        <p:nvSpPr>
          <p:cNvPr id="48" name="Text 41"/>
          <p:cNvSpPr/>
          <p:nvPr/>
        </p:nvSpPr>
        <p:spPr>
          <a:xfrm>
            <a:off x="14348371" y="5269409"/>
            <a:ext cx="284128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 Search Console e Ads para evitar canibalização.</a:t>
            </a:r>
            <a:endParaRPr lang="en-US" sz="1050" dirty="0"/>
          </a:p>
        </p:txBody>
      </p:sp>
      <p:sp>
        <p:nvSpPr>
          <p:cNvPr id="49" name="Shape 42"/>
          <p:cNvSpPr/>
          <p:nvPr/>
        </p:nvSpPr>
        <p:spPr>
          <a:xfrm>
            <a:off x="14348371" y="6116836"/>
            <a:ext cx="275852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0" name="Text 43"/>
          <p:cNvSpPr/>
          <p:nvPr/>
        </p:nvSpPr>
        <p:spPr>
          <a:xfrm>
            <a:off x="14348371" y="6240661"/>
            <a:ext cx="2841285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6.361 termos </a:t>
            </a:r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cruzados entre os dois canais.</a:t>
            </a:r>
            <a:endParaRPr lang="en-US" sz="975" dirty="0"/>
          </a:p>
        </p:txBody>
      </p:sp>
      <p:sp>
        <p:nvSpPr>
          <p:cNvPr id="51" name="Shape 44"/>
          <p:cNvSpPr/>
          <p:nvPr/>
        </p:nvSpPr>
        <p:spPr>
          <a:xfrm>
            <a:off x="914400" y="7071122"/>
            <a:ext cx="5334000" cy="850850"/>
          </a:xfrm>
          <a:prstGeom prst="roundRect">
            <a:avLst>
              <a:gd name="adj" fmla="val 15673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1171575" y="7296448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35000"/>
              </a:srgbClr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825" y="7391698"/>
            <a:ext cx="209550" cy="209550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1743075" y="7290197"/>
            <a:ext cx="2000994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825" dirty="0"/>
          </a:p>
        </p:txBody>
      </p:sp>
      <p:sp>
        <p:nvSpPr>
          <p:cNvPr id="55" name="Text 47"/>
          <p:cNvSpPr/>
          <p:nvPr/>
        </p:nvSpPr>
        <p:spPr>
          <a:xfrm>
            <a:off x="1743075" y="7480102"/>
            <a:ext cx="2000994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 de busca bruto</a:t>
            </a:r>
            <a:endParaRPr lang="en-US" sz="1350" dirty="0"/>
          </a:p>
        </p:txBody>
      </p:sp>
      <p:sp>
        <p:nvSpPr>
          <p:cNvPr id="56" name="Shape 48"/>
          <p:cNvSpPr/>
          <p:nvPr/>
        </p:nvSpPr>
        <p:spPr>
          <a:xfrm>
            <a:off x="6477000" y="7071122"/>
            <a:ext cx="5334000" cy="850850"/>
          </a:xfrm>
          <a:prstGeom prst="roundRect">
            <a:avLst>
              <a:gd name="adj" fmla="val 15673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6734175" y="7296448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35000"/>
              </a:srgbClr>
            </a:solidFill>
            <a:prstDash val="solid"/>
          </a:ln>
        </p:spPr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9425" y="7391698"/>
            <a:ext cx="209550" cy="209550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7305675" y="7290197"/>
            <a:ext cx="2012752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825" dirty="0"/>
          </a:p>
        </p:txBody>
      </p:sp>
      <p:sp>
        <p:nvSpPr>
          <p:cNvPr id="60" name="Text 51"/>
          <p:cNvSpPr/>
          <p:nvPr/>
        </p:nvSpPr>
        <p:spPr>
          <a:xfrm>
            <a:off x="7305675" y="7480102"/>
            <a:ext cx="2012752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camadas de análise</a:t>
            </a:r>
            <a:endParaRPr lang="en-US" sz="1350" dirty="0"/>
          </a:p>
        </p:txBody>
      </p:sp>
      <p:sp>
        <p:nvSpPr>
          <p:cNvPr id="61" name="Shape 52"/>
          <p:cNvSpPr/>
          <p:nvPr/>
        </p:nvSpPr>
        <p:spPr>
          <a:xfrm>
            <a:off x="12039600" y="7071122"/>
            <a:ext cx="5334000" cy="850850"/>
          </a:xfrm>
          <a:prstGeom prst="roundRect">
            <a:avLst>
              <a:gd name="adj" fmla="val 15673"/>
            </a:avLst>
          </a:prstGeom>
          <a:solidFill>
            <a:srgbClr val="D94B4B">
              <a:alpha val="10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62" name="Shape 53"/>
          <p:cNvSpPr/>
          <p:nvPr/>
        </p:nvSpPr>
        <p:spPr>
          <a:xfrm>
            <a:off x="12296775" y="7296448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35000"/>
              </a:srgbClr>
            </a:solidFill>
            <a:prstDash val="solid"/>
          </a:ln>
        </p:spPr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92025" y="7391698"/>
            <a:ext cx="209550" cy="209550"/>
          </a:xfrm>
          <a:prstGeom prst="rect">
            <a:avLst/>
          </a:prstGeom>
        </p:spPr>
      </p:pic>
      <p:sp>
        <p:nvSpPr>
          <p:cNvPr id="64" name="Text 54"/>
          <p:cNvSpPr/>
          <p:nvPr/>
        </p:nvSpPr>
        <p:spPr>
          <a:xfrm>
            <a:off x="12868275" y="7290197"/>
            <a:ext cx="2567732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825" dirty="0"/>
          </a:p>
        </p:txBody>
      </p:sp>
      <p:sp>
        <p:nvSpPr>
          <p:cNvPr id="65" name="Text 55"/>
          <p:cNvSpPr/>
          <p:nvPr/>
        </p:nvSpPr>
        <p:spPr>
          <a:xfrm>
            <a:off x="12868275" y="7480102"/>
            <a:ext cx="2567732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priorizada · R$ · porquê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4796"/>
            <a:ext cx="133350" cy="1333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457200"/>
            <a:ext cx="914251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GoTrends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5851" y="457200"/>
            <a:ext cx="9525" cy="24854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28726" y="457200"/>
            <a:ext cx="1796058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construído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6726793" y="457200"/>
            <a:ext cx="723007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047750"/>
            <a:ext cx="10791825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31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DO PIPELINE · GOTRENDS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374428"/>
            <a:ext cx="10791825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Construído do zero. </a:t>
            </a:r>
            <a:pPr algn="l" indent="0" marL="0">
              <a:lnSpc>
                <a:spcPct val="100000"/>
              </a:lnSpc>
              <a:buNone/>
            </a:pPr>
            <a:r>
              <a:rPr lang="en-US" sz="4800" b="1" spc="-72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Rodando em produção.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" y="2669828"/>
            <a:ext cx="10791825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etapas. Tecnologias estado-da-arte. Segurança transversal. </a:t>
            </a:r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Aponte a câmera no QR — está no ar agora.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089821"/>
            <a:ext cx="1040904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137.242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974354" y="3242221"/>
            <a:ext cx="1998018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7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TERMOS PROCESSADOS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239071" y="3089821"/>
            <a:ext cx="58995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848076" y="3242221"/>
            <a:ext cx="1140470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7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ANÁLISE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255246" y="3089821"/>
            <a:ext cx="240357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b="1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14654" y="3242221"/>
            <a:ext cx="332139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spc="176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NOVAS KEYWORDS DESCOBERTAS / MÊS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13844885" y="2047726"/>
            <a:ext cx="3528715" cy="1428750"/>
          </a:xfrm>
          <a:prstGeom prst="roundRect">
            <a:avLst>
              <a:gd name="adj" fmla="val 12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025860" y="2190601"/>
            <a:ext cx="11430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5860" y="2190601"/>
            <a:ext cx="1143000" cy="1143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340310" y="2445990"/>
            <a:ext cx="1928515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ME · AO VIVO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5340310" y="2654945"/>
            <a:ext cx="1928515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GoTrends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5340310" y="2898725"/>
            <a:ext cx="1928515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· acesso por OAuth</a:t>
            </a:r>
            <a:endParaRPr lang="en-US" sz="975" dirty="0"/>
          </a:p>
        </p:txBody>
      </p:sp>
      <p:sp>
        <p:nvSpPr>
          <p:cNvPr id="22" name="Shape 19"/>
          <p:cNvSpPr/>
          <p:nvPr/>
        </p:nvSpPr>
        <p:spPr>
          <a:xfrm>
            <a:off x="914400" y="3781276"/>
            <a:ext cx="3185071" cy="3238500"/>
          </a:xfrm>
          <a:prstGeom prst="roundRect">
            <a:avLst>
              <a:gd name="adj" fmla="val 4785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95375" y="3676501"/>
            <a:ext cx="285750" cy="2857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24" name="Text 21"/>
          <p:cNvSpPr/>
          <p:nvPr/>
        </p:nvSpPr>
        <p:spPr>
          <a:xfrm>
            <a:off x="1057275" y="367650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133475" y="4095601"/>
            <a:ext cx="2829328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 DE DADOS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133475" y="4342656"/>
            <a:ext cx="2829328" cy="273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</a:t>
            </a:r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bruta</a:t>
            </a:r>
            <a:endParaRPr lang="en-US" sz="1575" dirty="0"/>
          </a:p>
        </p:txBody>
      </p:sp>
      <p:sp>
        <p:nvSpPr>
          <p:cNvPr id="27" name="Text 24"/>
          <p:cNvSpPr/>
          <p:nvPr/>
        </p:nvSpPr>
        <p:spPr>
          <a:xfrm>
            <a:off x="1133475" y="4673798"/>
            <a:ext cx="282932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Campanhas, search terms, métricas, posições e cliques — pago e orgânico, em paralelo.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133475" y="6365677"/>
            <a:ext cx="27469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133475" y="6508552"/>
            <a:ext cx="1107132" cy="273100"/>
          </a:xfrm>
          <a:prstGeom prst="roundRect">
            <a:avLst>
              <a:gd name="adj" fmla="val 50000"/>
            </a:avLst>
          </a:prstGeom>
          <a:solidFill>
            <a:srgbClr val="D94B4B">
              <a:alpha val="15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38250" y="6565702"/>
            <a:ext cx="973782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API</a:t>
            </a:r>
            <a:endParaRPr lang="en-US" sz="863" dirty="0"/>
          </a:p>
        </p:txBody>
      </p:sp>
      <p:sp>
        <p:nvSpPr>
          <p:cNvPr id="31" name="Shape 28"/>
          <p:cNvSpPr/>
          <p:nvPr/>
        </p:nvSpPr>
        <p:spPr>
          <a:xfrm>
            <a:off x="2297757" y="6508552"/>
            <a:ext cx="1361331" cy="273100"/>
          </a:xfrm>
          <a:prstGeom prst="roundRect">
            <a:avLst>
              <a:gd name="adj" fmla="val 50000"/>
            </a:avLst>
          </a:prstGeom>
          <a:solidFill>
            <a:srgbClr val="D94B4B">
              <a:alpha val="15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402532" y="6565702"/>
            <a:ext cx="1227981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Console API</a:t>
            </a:r>
            <a:endParaRPr lang="en-US" sz="863" dirty="0"/>
          </a:p>
        </p:txBody>
      </p:sp>
      <p:sp>
        <p:nvSpPr>
          <p:cNvPr id="33" name="Shape 30"/>
          <p:cNvSpPr/>
          <p:nvPr/>
        </p:nvSpPr>
        <p:spPr>
          <a:xfrm>
            <a:off x="4232821" y="3781276"/>
            <a:ext cx="3185220" cy="3238500"/>
          </a:xfrm>
          <a:prstGeom prst="roundRect">
            <a:avLst>
              <a:gd name="adj" fmla="val 4785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13796" y="3676501"/>
            <a:ext cx="285750" cy="2857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35" name="Text 32"/>
          <p:cNvSpPr/>
          <p:nvPr/>
        </p:nvSpPr>
        <p:spPr>
          <a:xfrm>
            <a:off x="4375696" y="367650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451896" y="4095601"/>
            <a:ext cx="2829482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4451896" y="4342656"/>
            <a:ext cx="2829482" cy="273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 </a:t>
            </a:r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</a:t>
            </a:r>
            <a:endParaRPr lang="en-US" sz="1575" dirty="0"/>
          </a:p>
        </p:txBody>
      </p:sp>
      <p:sp>
        <p:nvSpPr>
          <p:cNvPr id="38" name="Text 35"/>
          <p:cNvSpPr/>
          <p:nvPr/>
        </p:nvSpPr>
        <p:spPr>
          <a:xfrm>
            <a:off x="4451896" y="4673798"/>
            <a:ext cx="2829482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Padroniza dados, recupera sob demanda, estrutura contexto para a IA. Estado da arte em integração.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451896" y="6365677"/>
            <a:ext cx="274707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451896" y="6508552"/>
            <a:ext cx="1596330" cy="273100"/>
          </a:xfrm>
          <a:prstGeom prst="roundRect">
            <a:avLst>
              <a:gd name="adj" fmla="val 50000"/>
            </a:avLst>
          </a:prstGeom>
          <a:solidFill>
            <a:srgbClr val="D94B4B">
              <a:alpha val="15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56671" y="6565702"/>
            <a:ext cx="1462980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</a:t>
            </a:r>
            <a:endParaRPr lang="en-US" sz="863" dirty="0"/>
          </a:p>
        </p:txBody>
      </p:sp>
      <p:sp>
        <p:nvSpPr>
          <p:cNvPr id="42" name="Shape 39"/>
          <p:cNvSpPr/>
          <p:nvPr/>
        </p:nvSpPr>
        <p:spPr>
          <a:xfrm>
            <a:off x="6105376" y="6508552"/>
            <a:ext cx="788938" cy="2731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10151" y="6565702"/>
            <a:ext cx="655588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</a:t>
            </a:r>
            <a:endParaRPr lang="en-US" sz="863" dirty="0"/>
          </a:p>
        </p:txBody>
      </p:sp>
      <p:sp>
        <p:nvSpPr>
          <p:cNvPr id="44" name="Shape 41"/>
          <p:cNvSpPr/>
          <p:nvPr/>
        </p:nvSpPr>
        <p:spPr>
          <a:xfrm>
            <a:off x="7551390" y="3781276"/>
            <a:ext cx="3185071" cy="3238500"/>
          </a:xfrm>
          <a:prstGeom prst="roundRect">
            <a:avLst>
              <a:gd name="adj" fmla="val 4785"/>
            </a:avLst>
          </a:prstGeom>
          <a:solidFill>
            <a:srgbClr val="D94B4B">
              <a:alpha val="10000"/>
            </a:srgbClr>
          </a:solidFill>
          <a:ln w="9525">
            <a:solidFill>
              <a:srgbClr val="D94B4B">
                <a:alpha val="35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732365" y="3676501"/>
            <a:ext cx="285750" cy="2857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46" name="Text 43"/>
          <p:cNvSpPr/>
          <p:nvPr/>
        </p:nvSpPr>
        <p:spPr>
          <a:xfrm>
            <a:off x="7694265" y="367650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7770465" y="4095601"/>
            <a:ext cx="2829328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GOTRENDS</a:t>
            </a:r>
            <a:endParaRPr lang="en-US" sz="825" dirty="0"/>
          </a:p>
        </p:txBody>
      </p:sp>
      <p:sp>
        <p:nvSpPr>
          <p:cNvPr id="48" name="Text 45"/>
          <p:cNvSpPr/>
          <p:nvPr/>
        </p:nvSpPr>
        <p:spPr>
          <a:xfrm>
            <a:off x="7770465" y="4342656"/>
            <a:ext cx="2829328" cy="273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frameworks </a:t>
            </a:r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decisão</a:t>
            </a:r>
            <a:endParaRPr lang="en-US" sz="1575" dirty="0"/>
          </a:p>
        </p:txBody>
      </p:sp>
      <p:sp>
        <p:nvSpPr>
          <p:cNvPr id="49" name="Text 46"/>
          <p:cNvSpPr/>
          <p:nvPr/>
        </p:nvSpPr>
        <p:spPr>
          <a:xfrm>
            <a:off x="7770465" y="4673798"/>
            <a:ext cx="282932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Taxonomia de intenção, modelo financeiro, regras por tipo de campanha, política de risco, padrões de insight. Tudo injetado como contexto.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7770465" y="6035427"/>
            <a:ext cx="27469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770465" y="6178302"/>
            <a:ext cx="1323826" cy="273100"/>
          </a:xfrm>
          <a:prstGeom prst="roundRect">
            <a:avLst>
              <a:gd name="adj" fmla="val 50000"/>
            </a:avLst>
          </a:prstGeom>
          <a:solidFill>
            <a:srgbClr val="D94B4B">
              <a:alpha val="15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875240" y="6235452"/>
            <a:ext cx="1190476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· Anthropic</a:t>
            </a:r>
            <a:endParaRPr lang="en-US" sz="863" dirty="0"/>
          </a:p>
        </p:txBody>
      </p:sp>
      <p:sp>
        <p:nvSpPr>
          <p:cNvPr id="53" name="Shape 50"/>
          <p:cNvSpPr/>
          <p:nvPr/>
        </p:nvSpPr>
        <p:spPr>
          <a:xfrm>
            <a:off x="7770465" y="6508552"/>
            <a:ext cx="1475929" cy="2731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875240" y="6565702"/>
            <a:ext cx="1342579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autorais</a:t>
            </a:r>
            <a:endParaRPr lang="en-US" sz="863" dirty="0"/>
          </a:p>
        </p:txBody>
      </p:sp>
      <p:sp>
        <p:nvSpPr>
          <p:cNvPr id="55" name="Shape 52"/>
          <p:cNvSpPr/>
          <p:nvPr/>
        </p:nvSpPr>
        <p:spPr>
          <a:xfrm>
            <a:off x="10869811" y="3781276"/>
            <a:ext cx="3185220" cy="3238500"/>
          </a:xfrm>
          <a:prstGeom prst="roundRect">
            <a:avLst>
              <a:gd name="adj" fmla="val 4785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1050786" y="3676501"/>
            <a:ext cx="285750" cy="2857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57" name="Text 54"/>
          <p:cNvSpPr/>
          <p:nvPr/>
        </p:nvSpPr>
        <p:spPr>
          <a:xfrm>
            <a:off x="11012686" y="367650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11088886" y="4095601"/>
            <a:ext cx="2829482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DE ANÁLISE</a:t>
            </a:r>
            <a:endParaRPr lang="en-US" sz="825" dirty="0"/>
          </a:p>
        </p:txBody>
      </p:sp>
      <p:sp>
        <p:nvSpPr>
          <p:cNvPr id="59" name="Text 56"/>
          <p:cNvSpPr/>
          <p:nvPr/>
        </p:nvSpPr>
        <p:spPr>
          <a:xfrm>
            <a:off x="11088886" y="4342656"/>
            <a:ext cx="2829482" cy="273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</a:t>
            </a:r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</a:t>
            </a:r>
            <a:endParaRPr lang="en-US" sz="1575" dirty="0"/>
          </a:p>
        </p:txBody>
      </p:sp>
      <p:sp>
        <p:nvSpPr>
          <p:cNvPr id="60" name="Text 57"/>
          <p:cNvSpPr/>
          <p:nvPr/>
        </p:nvSpPr>
        <p:spPr>
          <a:xfrm>
            <a:off x="11088886" y="4673798"/>
            <a:ext cx="2829482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→ enriquecimento → classificação de intenção → análise financeira → geração de insights e recomendações.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11088886" y="6365677"/>
            <a:ext cx="274707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11088886" y="6508552"/>
            <a:ext cx="625971" cy="2731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1193661" y="6565702"/>
            <a:ext cx="492621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863" dirty="0"/>
          </a:p>
        </p:txBody>
      </p:sp>
      <p:sp>
        <p:nvSpPr>
          <p:cNvPr id="64" name="Shape 61"/>
          <p:cNvSpPr/>
          <p:nvPr/>
        </p:nvSpPr>
        <p:spPr>
          <a:xfrm>
            <a:off x="11772007" y="6508552"/>
            <a:ext cx="657374" cy="2731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1876782" y="6565702"/>
            <a:ext cx="524024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863" dirty="0"/>
          </a:p>
        </p:txBody>
      </p:sp>
      <p:sp>
        <p:nvSpPr>
          <p:cNvPr id="66" name="Shape 63"/>
          <p:cNvSpPr/>
          <p:nvPr/>
        </p:nvSpPr>
        <p:spPr>
          <a:xfrm>
            <a:off x="12486531" y="6508552"/>
            <a:ext cx="542032" cy="2731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2591306" y="6565702"/>
            <a:ext cx="408682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863" dirty="0"/>
          </a:p>
        </p:txBody>
      </p:sp>
      <p:sp>
        <p:nvSpPr>
          <p:cNvPr id="68" name="Shape 65"/>
          <p:cNvSpPr/>
          <p:nvPr/>
        </p:nvSpPr>
        <p:spPr>
          <a:xfrm>
            <a:off x="14188380" y="3781276"/>
            <a:ext cx="3185071" cy="3238500"/>
          </a:xfrm>
          <a:prstGeom prst="roundRect">
            <a:avLst>
              <a:gd name="adj" fmla="val 4785"/>
            </a:avLst>
          </a:prstGeom>
          <a:solidFill>
            <a:srgbClr val="B7E2DC">
              <a:alpha val="6000"/>
            </a:srgbClr>
          </a:solidFill>
          <a:ln w="9525">
            <a:solidFill>
              <a:srgbClr val="B7E2DC">
                <a:alpha val="2500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4369355" y="3676501"/>
            <a:ext cx="285750" cy="2857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70" name="Text 67"/>
          <p:cNvSpPr/>
          <p:nvPr/>
        </p:nvSpPr>
        <p:spPr>
          <a:xfrm>
            <a:off x="14331255" y="367650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71" name="Text 68"/>
          <p:cNvSpPr/>
          <p:nvPr/>
        </p:nvSpPr>
        <p:spPr>
          <a:xfrm>
            <a:off x="14407455" y="4095601"/>
            <a:ext cx="2829328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STREAMLIT</a:t>
            </a:r>
            <a:endParaRPr lang="en-US" sz="825" dirty="0"/>
          </a:p>
        </p:txBody>
      </p:sp>
      <p:sp>
        <p:nvSpPr>
          <p:cNvPr id="72" name="Text 69"/>
          <p:cNvSpPr/>
          <p:nvPr/>
        </p:nvSpPr>
        <p:spPr>
          <a:xfrm>
            <a:off x="14407455" y="4342656"/>
            <a:ext cx="2829328" cy="2739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</a:t>
            </a:r>
            <a:pPr algn="l" indent="0" marL="0">
              <a:lnSpc>
                <a:spcPct val="118000"/>
              </a:lnSpc>
              <a:buNone/>
            </a:pPr>
            <a:r>
              <a:rPr lang="en-US" sz="1575" b="1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tempo real</a:t>
            </a:r>
            <a:endParaRPr lang="en-US" sz="1575" dirty="0"/>
          </a:p>
        </p:txBody>
      </p:sp>
      <p:sp>
        <p:nvSpPr>
          <p:cNvPr id="73" name="Text 70"/>
          <p:cNvSpPr/>
          <p:nvPr/>
        </p:nvSpPr>
        <p:spPr>
          <a:xfrm>
            <a:off x="14407455" y="4673798"/>
            <a:ext cx="282932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módulos · visão geral · ações recomendadas · chat com o agente · deploy em cloud com acesso por OAuth.</a:t>
            </a:r>
            <a:endParaRPr lang="en-US" sz="1050" dirty="0"/>
          </a:p>
        </p:txBody>
      </p:sp>
      <p:sp>
        <p:nvSpPr>
          <p:cNvPr id="74" name="Shape 71"/>
          <p:cNvSpPr/>
          <p:nvPr/>
        </p:nvSpPr>
        <p:spPr>
          <a:xfrm>
            <a:off x="14407455" y="6365677"/>
            <a:ext cx="274692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14407455" y="6508552"/>
            <a:ext cx="1146125" cy="273100"/>
          </a:xfrm>
          <a:prstGeom prst="roundRect">
            <a:avLst>
              <a:gd name="adj" fmla="val 50000"/>
            </a:avLst>
          </a:prstGeom>
          <a:solidFill>
            <a:srgbClr val="D94B4B">
              <a:alpha val="15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14512230" y="6565702"/>
            <a:ext cx="1012775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Cloud</a:t>
            </a:r>
            <a:endParaRPr lang="en-US" sz="863" dirty="0"/>
          </a:p>
        </p:txBody>
      </p:sp>
      <p:sp>
        <p:nvSpPr>
          <p:cNvPr id="77" name="Shape 74"/>
          <p:cNvSpPr/>
          <p:nvPr/>
        </p:nvSpPr>
        <p:spPr>
          <a:xfrm>
            <a:off x="15610731" y="6508552"/>
            <a:ext cx="747415" cy="2731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15715506" y="6565702"/>
            <a:ext cx="614065" cy="1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b="1" spc="35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863" dirty="0"/>
          </a:p>
        </p:txBody>
      </p:sp>
      <p:sp>
        <p:nvSpPr>
          <p:cNvPr id="79" name="Shape 76"/>
          <p:cNvSpPr/>
          <p:nvPr/>
        </p:nvSpPr>
        <p:spPr>
          <a:xfrm>
            <a:off x="914400" y="7248376"/>
            <a:ext cx="16459200" cy="579537"/>
          </a:xfrm>
          <a:prstGeom prst="roundRect">
            <a:avLst>
              <a:gd name="adj" fmla="val 23010"/>
            </a:avLst>
          </a:prstGeom>
          <a:solidFill>
            <a:srgbClr val="D94B4B">
              <a:alpha val="4000"/>
            </a:srgbClr>
          </a:solidFill>
          <a:ln w="9525">
            <a:solidFill>
              <a:srgbClr val="D94B4B">
                <a:alpha val="40000"/>
              </a:srgbClr>
            </a:solidFill>
            <a:prstDash val="dash"/>
          </a:ln>
        </p:spPr>
      </p:sp>
      <p:sp>
        <p:nvSpPr>
          <p:cNvPr id="80" name="Shape 77"/>
          <p:cNvSpPr/>
          <p:nvPr/>
        </p:nvSpPr>
        <p:spPr>
          <a:xfrm>
            <a:off x="1133475" y="7405092"/>
            <a:ext cx="1179909" cy="266105"/>
          </a:xfrm>
          <a:prstGeom prst="roundRect">
            <a:avLst>
              <a:gd name="adj" fmla="val 50000"/>
            </a:avLst>
          </a:prstGeom>
          <a:solidFill>
            <a:srgbClr val="D94B4B"/>
          </a:solidFill>
          <a:ln/>
        </p:spPr>
      </p:sp>
      <p:sp>
        <p:nvSpPr>
          <p:cNvPr id="81" name="Text 78"/>
          <p:cNvSpPr/>
          <p:nvPr/>
        </p:nvSpPr>
        <p:spPr>
          <a:xfrm>
            <a:off x="1247775" y="7462242"/>
            <a:ext cx="1027509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4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TRANSVERSAL</a:t>
            </a:r>
            <a:endParaRPr lang="en-US" sz="825" dirty="0"/>
          </a:p>
        </p:txBody>
      </p:sp>
      <p:sp>
        <p:nvSpPr>
          <p:cNvPr id="82" name="Text 79"/>
          <p:cNvSpPr/>
          <p:nvPr/>
        </p:nvSpPr>
        <p:spPr>
          <a:xfrm>
            <a:off x="2465784" y="7441406"/>
            <a:ext cx="1909763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&amp; Segurança</a:t>
            </a:r>
            <a:endParaRPr lang="en-US" sz="1050" dirty="0"/>
          </a:p>
        </p:txBody>
      </p:sp>
      <p:sp>
        <p:nvSpPr>
          <p:cNvPr id="83" name="Shape 80"/>
          <p:cNvSpPr/>
          <p:nvPr/>
        </p:nvSpPr>
        <p:spPr>
          <a:xfrm>
            <a:off x="4508897" y="7391251"/>
            <a:ext cx="1302395" cy="29378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4623197" y="7448401"/>
            <a:ext cx="1149995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(Google)</a:t>
            </a:r>
            <a:endParaRPr lang="en-US" sz="975" dirty="0"/>
          </a:p>
        </p:txBody>
      </p:sp>
      <p:sp>
        <p:nvSpPr>
          <p:cNvPr id="85" name="Shape 82"/>
          <p:cNvSpPr/>
          <p:nvPr/>
        </p:nvSpPr>
        <p:spPr>
          <a:xfrm>
            <a:off x="5887492" y="7391251"/>
            <a:ext cx="3240137" cy="29378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6001792" y="7448401"/>
            <a:ext cx="3108741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por domínio · @gocase.com / @gobeaute.com</a:t>
            </a:r>
            <a:endParaRPr lang="en-US" sz="975" dirty="0"/>
          </a:p>
        </p:txBody>
      </p:sp>
      <p:sp>
        <p:nvSpPr>
          <p:cNvPr id="87" name="Shape 84"/>
          <p:cNvSpPr/>
          <p:nvPr/>
        </p:nvSpPr>
        <p:spPr>
          <a:xfrm>
            <a:off x="9203829" y="7391251"/>
            <a:ext cx="1123504" cy="29378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9318129" y="7448401"/>
            <a:ext cx="971104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&amp; auditoria</a:t>
            </a:r>
            <a:endParaRPr lang="en-US" sz="975" dirty="0"/>
          </a:p>
        </p:txBody>
      </p:sp>
      <p:sp>
        <p:nvSpPr>
          <p:cNvPr id="89" name="Shape 86"/>
          <p:cNvSpPr/>
          <p:nvPr/>
        </p:nvSpPr>
        <p:spPr>
          <a:xfrm>
            <a:off x="10403532" y="7391251"/>
            <a:ext cx="1453902" cy="29378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10517832" y="7448401"/>
            <a:ext cx="130150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não persistidos</a:t>
            </a:r>
            <a:endParaRPr lang="en-US" sz="975" dirty="0"/>
          </a:p>
        </p:txBody>
      </p:sp>
      <p:sp>
        <p:nvSpPr>
          <p:cNvPr id="91" name="Shape 88"/>
          <p:cNvSpPr/>
          <p:nvPr/>
        </p:nvSpPr>
        <p:spPr>
          <a:xfrm>
            <a:off x="11933634" y="7391251"/>
            <a:ext cx="1130201" cy="29378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12047934" y="7448401"/>
            <a:ext cx="977801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 compliant</a:t>
            </a:r>
            <a:endParaRPr lang="en-US" sz="975" dirty="0"/>
          </a:p>
        </p:txBody>
      </p:sp>
      <p:sp>
        <p:nvSpPr>
          <p:cNvPr id="93" name="Shape 90"/>
          <p:cNvSpPr/>
          <p:nvPr/>
        </p:nvSpPr>
        <p:spPr>
          <a:xfrm>
            <a:off x="13140035" y="7391251"/>
            <a:ext cx="1811685" cy="293787"/>
          </a:xfrm>
          <a:prstGeom prst="roundRect">
            <a:avLst>
              <a:gd name="adj" fmla="val 50000"/>
            </a:avLst>
          </a:prstGeom>
          <a:solidFill>
            <a:srgbClr val="2ECC71">
              <a:alpha val="10000"/>
            </a:srgbClr>
          </a:solidFill>
          <a:ln w="9525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13254335" y="7448401"/>
            <a:ext cx="1659285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execuções automáticas</a:t>
            </a:r>
            <a:endParaRPr lang="en-US" sz="975" dirty="0"/>
          </a:p>
        </p:txBody>
      </p:sp>
      <p:sp>
        <p:nvSpPr>
          <p:cNvPr id="95" name="Shape 92"/>
          <p:cNvSpPr/>
          <p:nvPr/>
        </p:nvSpPr>
        <p:spPr>
          <a:xfrm>
            <a:off x="914400" y="7999363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6" name="Text 93"/>
          <p:cNvSpPr/>
          <p:nvPr/>
        </p:nvSpPr>
        <p:spPr>
          <a:xfrm>
            <a:off x="914400" y="8222754"/>
            <a:ext cx="547985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825" dirty="0"/>
          </a:p>
        </p:txBody>
      </p:sp>
      <p:sp>
        <p:nvSpPr>
          <p:cNvPr id="97" name="Shape 94"/>
          <p:cNvSpPr/>
          <p:nvPr/>
        </p:nvSpPr>
        <p:spPr>
          <a:xfrm>
            <a:off x="1576685" y="8142238"/>
            <a:ext cx="1226046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1719560" y="8208913"/>
            <a:ext cx="1016496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API</a:t>
            </a:r>
            <a:endParaRPr lang="en-US" sz="975" dirty="0"/>
          </a:p>
        </p:txBody>
      </p:sp>
      <p:sp>
        <p:nvSpPr>
          <p:cNvPr id="99" name="Shape 96"/>
          <p:cNvSpPr/>
          <p:nvPr/>
        </p:nvSpPr>
        <p:spPr>
          <a:xfrm>
            <a:off x="2936081" y="8142238"/>
            <a:ext cx="1489472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3078956" y="8208913"/>
            <a:ext cx="127992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Console API</a:t>
            </a:r>
            <a:endParaRPr lang="en-US" sz="975" dirty="0"/>
          </a:p>
        </p:txBody>
      </p:sp>
      <p:sp>
        <p:nvSpPr>
          <p:cNvPr id="101" name="Shape 98"/>
          <p:cNvSpPr/>
          <p:nvPr/>
        </p:nvSpPr>
        <p:spPr>
          <a:xfrm>
            <a:off x="4558903" y="8142238"/>
            <a:ext cx="564356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4701778" y="8208913"/>
            <a:ext cx="354806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975" dirty="0"/>
          </a:p>
        </p:txBody>
      </p:sp>
      <p:sp>
        <p:nvSpPr>
          <p:cNvPr id="103" name="Shape 100"/>
          <p:cNvSpPr/>
          <p:nvPr/>
        </p:nvSpPr>
        <p:spPr>
          <a:xfrm>
            <a:off x="5256609" y="8142238"/>
            <a:ext cx="1503462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5399484" y="8208913"/>
            <a:ext cx="129391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(Anthropic)</a:t>
            </a:r>
            <a:endParaRPr lang="en-US" sz="975" dirty="0"/>
          </a:p>
        </p:txBody>
      </p:sp>
      <p:sp>
        <p:nvSpPr>
          <p:cNvPr id="105" name="Shape 102"/>
          <p:cNvSpPr/>
          <p:nvPr/>
        </p:nvSpPr>
        <p:spPr>
          <a:xfrm>
            <a:off x="6893421" y="8142238"/>
            <a:ext cx="854720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7036296" y="8208913"/>
            <a:ext cx="645170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975" dirty="0"/>
          </a:p>
        </p:txBody>
      </p:sp>
      <p:sp>
        <p:nvSpPr>
          <p:cNvPr id="107" name="Shape 104"/>
          <p:cNvSpPr/>
          <p:nvPr/>
        </p:nvSpPr>
        <p:spPr>
          <a:xfrm>
            <a:off x="7881491" y="8142238"/>
            <a:ext cx="717352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8024366" y="8208913"/>
            <a:ext cx="50780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75" dirty="0"/>
          </a:p>
        </p:txBody>
      </p:sp>
      <p:sp>
        <p:nvSpPr>
          <p:cNvPr id="109" name="Shape 106"/>
          <p:cNvSpPr/>
          <p:nvPr/>
        </p:nvSpPr>
        <p:spPr>
          <a:xfrm>
            <a:off x="8732193" y="8142238"/>
            <a:ext cx="757833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8875068" y="8208913"/>
            <a:ext cx="548283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975" dirty="0"/>
          </a:p>
        </p:txBody>
      </p:sp>
      <p:sp>
        <p:nvSpPr>
          <p:cNvPr id="111" name="Shape 108"/>
          <p:cNvSpPr/>
          <p:nvPr/>
        </p:nvSpPr>
        <p:spPr>
          <a:xfrm>
            <a:off x="9623375" y="8142238"/>
            <a:ext cx="621953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9766250" y="8208913"/>
            <a:ext cx="412403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975" dirty="0"/>
          </a:p>
        </p:txBody>
      </p:sp>
      <p:sp>
        <p:nvSpPr>
          <p:cNvPr id="113" name="Shape 110"/>
          <p:cNvSpPr/>
          <p:nvPr/>
        </p:nvSpPr>
        <p:spPr>
          <a:xfrm>
            <a:off x="10378678" y="8142238"/>
            <a:ext cx="888802" cy="312837"/>
          </a:xfrm>
          <a:prstGeom prst="roundRect">
            <a:avLst>
              <a:gd name="adj" fmla="val 50000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10521553" y="8208913"/>
            <a:ext cx="679252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55315"/>
            <a:ext cx="133350" cy="1333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797719"/>
            <a:ext cx="914251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GoTrends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5851" y="457200"/>
            <a:ext cx="9525" cy="3199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28726" y="457200"/>
            <a:ext cx="1510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diferencial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726346" y="457200"/>
            <a:ext cx="723454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047750"/>
            <a:ext cx="1695297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31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NINGUÉM MAIS FAZ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469678"/>
            <a:ext cx="16952976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0" b="1" spc="-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gastar. </a:t>
            </a:r>
            <a:pPr algn="l" indent="0" marL="0">
              <a:lnSpc>
                <a:spcPct val="95000"/>
              </a:lnSpc>
              <a:buNone/>
            </a:pPr>
            <a:r>
              <a:rPr lang="en-US" sz="9000" b="1" spc="-180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depois.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914400" y="2784128"/>
            <a:ext cx="1079182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ferramentas atuais avisam quando o dinheiro já foi embora. GoTrends prepara a ação 45 dias antes.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033689"/>
            <a:ext cx="9334500" cy="4997351"/>
          </a:xfrm>
          <a:prstGeom prst="roundRect">
            <a:avLst>
              <a:gd name="adj" fmla="val 4574"/>
            </a:avLst>
          </a:prstGeom>
          <a:solidFill>
            <a:srgbClr val="1A1A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4925" y="4500414"/>
            <a:ext cx="2932801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15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LANÇAMENTO · KOKESHI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8663434" y="4424214"/>
            <a:ext cx="1194941" cy="331887"/>
          </a:xfrm>
          <a:prstGeom prst="roundRect">
            <a:avLst>
              <a:gd name="adj" fmla="val 50000"/>
            </a:avLst>
          </a:prstGeom>
          <a:solidFill>
            <a:srgbClr val="D94B4B"/>
          </a:solidFill>
          <a:ln/>
        </p:spPr>
      </p:sp>
      <p:sp>
        <p:nvSpPr>
          <p:cNvPr id="13" name="Shape 11"/>
          <p:cNvSpPr/>
          <p:nvPr/>
        </p:nvSpPr>
        <p:spPr>
          <a:xfrm>
            <a:off x="8808153" y="4544376"/>
            <a:ext cx="91562" cy="91562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987284" y="4490889"/>
            <a:ext cx="79489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17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304925" y="4870400"/>
            <a:ext cx="8810054" cy="458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Sérum Roll-on Adeus Olheiras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304925" y="5366593"/>
            <a:ext cx="8810054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 · 30 de abril de 2026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304925" y="7283797"/>
            <a:ext cx="85534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04925" y="5919936"/>
            <a:ext cx="85534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04925" y="6158061"/>
            <a:ext cx="21850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abr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3566220" y="6558111"/>
            <a:ext cx="3906978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campanha sugerida pronta para revisão · keywords pré-montadas, aguardando aprovação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04925" y="7521922"/>
            <a:ext cx="8810054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215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KEYWORDS PRÉ-MONTADAS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1304925" y="7834759"/>
            <a:ext cx="1900089" cy="364778"/>
          </a:xfrm>
          <a:prstGeom prst="roundRect">
            <a:avLst>
              <a:gd name="adj" fmla="val 5000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7800" y="7920484"/>
            <a:ext cx="169053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 adeus olheiras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81214" y="7834759"/>
            <a:ext cx="1830139" cy="364778"/>
          </a:xfrm>
          <a:prstGeom prst="roundRect">
            <a:avLst>
              <a:gd name="adj" fmla="val 5000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4089" y="7920484"/>
            <a:ext cx="162058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sérum olheiras kokeshi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87553" y="7834759"/>
            <a:ext cx="1627733" cy="364778"/>
          </a:xfrm>
          <a:prstGeom prst="roundRect">
            <a:avLst>
              <a:gd name="adj" fmla="val 5000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0428" y="7920484"/>
            <a:ext cx="1418183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on para olheiras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91486" y="7834759"/>
            <a:ext cx="2361754" cy="364778"/>
          </a:xfrm>
          <a:prstGeom prst="roundRect">
            <a:avLst>
              <a:gd name="adj" fmla="val 5000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34361" y="7920484"/>
            <a:ext cx="2152204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tratamento olheiras profundas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304925" y="8275737"/>
            <a:ext cx="1656159" cy="364778"/>
          </a:xfrm>
          <a:prstGeom prst="roundRect">
            <a:avLst>
              <a:gd name="adj" fmla="val 5000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47800" y="8361462"/>
            <a:ext cx="144660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kokeshi sérum olhos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037284" y="8275737"/>
            <a:ext cx="2035969" cy="364778"/>
          </a:xfrm>
          <a:prstGeom prst="roundRect">
            <a:avLst>
              <a:gd name="adj" fmla="val 50000"/>
            </a:avLst>
          </a:prstGeom>
          <a:solidFill>
            <a:srgbClr val="D94B4B">
              <a:alpha val="12000"/>
            </a:srgbClr>
          </a:solidFill>
          <a:ln w="9525">
            <a:solidFill>
              <a:srgbClr val="D94B4B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0159" y="8361462"/>
            <a:ext cx="182641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adeus olheiras como usar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706100" y="4033689"/>
            <a:ext cx="6667500" cy="1186607"/>
          </a:xfrm>
          <a:prstGeom prst="roundRect">
            <a:avLst>
              <a:gd name="adj" fmla="val 16054"/>
            </a:avLst>
          </a:prstGeom>
          <a:solidFill>
            <a:srgbClr val="1A1A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020425" y="4348014"/>
            <a:ext cx="6220016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98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CONCORRENTES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20425" y="4608909"/>
            <a:ext cx="6220016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“Seu CPA aumentou 40% na semana passada.”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606088" y="5448895"/>
            <a:ext cx="6867525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350" spc="243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A DIFERENÇA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0706100" y="5926038"/>
            <a:ext cx="6667500" cy="1483668"/>
          </a:xfrm>
          <a:prstGeom prst="roundRect">
            <a:avLst>
              <a:gd name="adj" fmla="val 12840"/>
            </a:avLst>
          </a:prstGeom>
          <a:solidFill>
            <a:srgbClr val="2ECC71">
              <a:alpha val="7000"/>
            </a:srgbClr>
          </a:solidFill>
          <a:ln w="9525">
            <a:solidFill>
              <a:srgbClr val="2ECC71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020425" y="6240363"/>
            <a:ext cx="6220016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b="1" spc="198" kern="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GOTRENDS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20425" y="6501259"/>
            <a:ext cx="6220016" cy="632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“Faltam 5 dias. Estas 6 keywords precisam estar no ar segunda-feira.”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4796"/>
            <a:ext cx="133350" cy="1333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457200"/>
            <a:ext cx="914251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GoTrends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5851" y="457200"/>
            <a:ext cx="9525" cy="24854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28726" y="457200"/>
            <a:ext cx="657671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6737360" y="457200"/>
            <a:ext cx="71244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047750"/>
            <a:ext cx="1695297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31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IDEIA. JÁ ESTÁ RODANDO.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431578"/>
            <a:ext cx="16952976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48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conta real. </a:t>
            </a:r>
            <a:pPr algn="l" indent="0" marL="0">
              <a:lnSpc>
                <a:spcPct val="145000"/>
              </a:lnSpc>
              <a:buNone/>
            </a:pPr>
            <a:r>
              <a:rPr lang="en-US" sz="4800" b="1" spc="-72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mês.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914400" y="2696468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696468"/>
            <a:ext cx="9525" cy="640973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23925" y="5896570"/>
            <a:ext cx="822483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139238" y="2705993"/>
            <a:ext cx="9525" cy="320010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57325" y="3182243"/>
            <a:ext cx="650081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8224837" y="3182243"/>
            <a:ext cx="381000" cy="381000"/>
          </a:xfrm>
          <a:prstGeom prst="ellipse">
            <a:avLst/>
          </a:prstGeom>
          <a:solidFill>
            <a:srgbClr val="D94B4B">
              <a:alpha val="15000"/>
            </a:srgbClr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0088" y="3277493"/>
            <a:ext cx="190500" cy="1905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57325" y="3583186"/>
            <a:ext cx="7362968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0" b="1" spc="-29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137.242</a:t>
            </a:r>
            <a:endParaRPr lang="en-US" sz="9750" dirty="0"/>
          </a:p>
        </p:txBody>
      </p:sp>
      <p:sp>
        <p:nvSpPr>
          <p:cNvPr id="17" name="Text 14"/>
          <p:cNvSpPr/>
          <p:nvPr/>
        </p:nvSpPr>
        <p:spPr>
          <a:xfrm>
            <a:off x="1457325" y="4973836"/>
            <a:ext cx="4316730" cy="484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termos de busca </a:t>
            </a:r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analisados e classificados em intenção, nos últimos 30 dias.</a:t>
            </a:r>
            <a:endParaRPr lang="en-US" sz="1275" dirty="0"/>
          </a:p>
        </p:txBody>
      </p:sp>
      <p:sp>
        <p:nvSpPr>
          <p:cNvPr id="18" name="Shape 15"/>
          <p:cNvSpPr/>
          <p:nvPr/>
        </p:nvSpPr>
        <p:spPr>
          <a:xfrm>
            <a:off x="9148763" y="5896570"/>
            <a:ext cx="822483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7364075" y="2705993"/>
            <a:ext cx="9525" cy="320010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9682163" y="3182243"/>
            <a:ext cx="1183035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16449675" y="3182243"/>
            <a:ext cx="381000" cy="381000"/>
          </a:xfrm>
          <a:prstGeom prst="ellipse">
            <a:avLst/>
          </a:prstGeom>
          <a:solidFill>
            <a:srgbClr val="D94B4B">
              <a:alpha val="15000"/>
            </a:srgbClr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4925" y="3277493"/>
            <a:ext cx="190500" cy="1905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682163" y="3583186"/>
            <a:ext cx="7362968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0" b="1" spc="-29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R$ 12.109</a:t>
            </a:r>
            <a:endParaRPr lang="en-US" sz="9750" dirty="0"/>
          </a:p>
        </p:txBody>
      </p:sp>
      <p:sp>
        <p:nvSpPr>
          <p:cNvPr id="24" name="Text 20"/>
          <p:cNvSpPr/>
          <p:nvPr/>
        </p:nvSpPr>
        <p:spPr>
          <a:xfrm>
            <a:off x="9682163" y="4973836"/>
            <a:ext cx="4316730" cy="484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termos eficientes subinvestidos + desperdício </a:t>
            </a:r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identificados neste mês.</a:t>
            </a:r>
            <a:endParaRPr lang="en-US" sz="1275" dirty="0"/>
          </a:p>
        </p:txBody>
      </p:sp>
      <p:sp>
        <p:nvSpPr>
          <p:cNvPr id="25" name="Shape 21"/>
          <p:cNvSpPr/>
          <p:nvPr/>
        </p:nvSpPr>
        <p:spPr>
          <a:xfrm>
            <a:off x="923925" y="9096673"/>
            <a:ext cx="822483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9139238" y="5906095"/>
            <a:ext cx="9525" cy="320010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1457325" y="6382345"/>
            <a:ext cx="230118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EFICIÊNCIA · SEARCH BRANDED</a:t>
            </a:r>
            <a:endParaRPr lang="en-US" sz="825" dirty="0"/>
          </a:p>
        </p:txBody>
      </p:sp>
      <p:sp>
        <p:nvSpPr>
          <p:cNvPr id="28" name="Shape 24"/>
          <p:cNvSpPr/>
          <p:nvPr/>
        </p:nvSpPr>
        <p:spPr>
          <a:xfrm>
            <a:off x="8224837" y="6382345"/>
            <a:ext cx="381000" cy="381000"/>
          </a:xfrm>
          <a:prstGeom prst="ellipse">
            <a:avLst/>
          </a:prstGeom>
          <a:solidFill>
            <a:srgbClr val="D94B4B">
              <a:alpha val="15000"/>
            </a:srgbClr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0088" y="6477595"/>
            <a:ext cx="190500" cy="1905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457325" y="6763345"/>
            <a:ext cx="7362968" cy="1296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0" b="1" spc="-29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21,7</a:t>
            </a:r>
            <a:pPr algn="l" indent="0" marL="0">
              <a:lnSpc>
                <a:spcPct val="100000"/>
              </a:lnSpc>
              <a:buNone/>
            </a:pPr>
            <a:r>
              <a:rPr lang="en-US" sz="4350" b="1" spc="-29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9750" dirty="0"/>
          </a:p>
        </p:txBody>
      </p:sp>
      <p:sp>
        <p:nvSpPr>
          <p:cNvPr id="31" name="Text 26"/>
          <p:cNvSpPr/>
          <p:nvPr/>
        </p:nvSpPr>
        <p:spPr>
          <a:xfrm>
            <a:off x="1457325" y="8173938"/>
            <a:ext cx="4316730" cy="484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na campanha branded </a:t>
            </a:r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identificado e protegido como carro-chefe.</a:t>
            </a:r>
            <a:endParaRPr lang="en-US" sz="1275" dirty="0"/>
          </a:p>
        </p:txBody>
      </p:sp>
      <p:sp>
        <p:nvSpPr>
          <p:cNvPr id="32" name="Shape 27"/>
          <p:cNvSpPr/>
          <p:nvPr/>
        </p:nvSpPr>
        <p:spPr>
          <a:xfrm>
            <a:off x="9148763" y="9096673"/>
            <a:ext cx="8224837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3" name="Shape 28"/>
          <p:cNvSpPr/>
          <p:nvPr/>
        </p:nvSpPr>
        <p:spPr>
          <a:xfrm>
            <a:off x="17364075" y="5906095"/>
            <a:ext cx="9525" cy="320010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9682163" y="6382345"/>
            <a:ext cx="969318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</a:t>
            </a:r>
            <a:endParaRPr lang="en-US" sz="825" dirty="0"/>
          </a:p>
        </p:txBody>
      </p:sp>
      <p:sp>
        <p:nvSpPr>
          <p:cNvPr id="35" name="Shape 30"/>
          <p:cNvSpPr/>
          <p:nvPr/>
        </p:nvSpPr>
        <p:spPr>
          <a:xfrm>
            <a:off x="16449675" y="6382345"/>
            <a:ext cx="381000" cy="381000"/>
          </a:xfrm>
          <a:prstGeom prst="ellipse">
            <a:avLst/>
          </a:prstGeom>
          <a:solidFill>
            <a:srgbClr val="D94B4B">
              <a:alpha val="15000"/>
            </a:srgbClr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4925" y="6477595"/>
            <a:ext cx="190500" cy="1905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682163" y="6763345"/>
            <a:ext cx="7362968" cy="1296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0" b="1" spc="-29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</a:t>
            </a:r>
            <a:pPr algn="l" indent="0" marL="0">
              <a:lnSpc>
                <a:spcPct val="100000"/>
              </a:lnSpc>
              <a:buNone/>
            </a:pPr>
            <a:r>
              <a:rPr lang="en-US" sz="4350" b="1" spc="-29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750" dirty="0"/>
          </a:p>
        </p:txBody>
      </p:sp>
      <p:sp>
        <p:nvSpPr>
          <p:cNvPr id="38" name="Text 32"/>
          <p:cNvSpPr/>
          <p:nvPr/>
        </p:nvSpPr>
        <p:spPr>
          <a:xfrm>
            <a:off x="9682163" y="8173938"/>
            <a:ext cx="4316730" cy="484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abrir a análise completa. </a:t>
            </a:r>
            <a:pPr algn="l" indent="0" marL="0">
              <a:lnSpc>
                <a:spcPct val="135000"/>
              </a:lnSpc>
              <a:buNone/>
            </a:pPr>
            <a:r>
              <a:rPr lang="en-US" sz="12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reunião de mídia de segunda começa agora.</a:t>
            </a:r>
            <a:endParaRPr lang="en-US" sz="1275" dirty="0"/>
          </a:p>
        </p:txBody>
      </p:sp>
      <p:sp>
        <p:nvSpPr>
          <p:cNvPr id="39" name="Shape 33"/>
          <p:cNvSpPr/>
          <p:nvPr/>
        </p:nvSpPr>
        <p:spPr>
          <a:xfrm>
            <a:off x="914400" y="9296698"/>
            <a:ext cx="16459200" cy="544711"/>
          </a:xfrm>
          <a:prstGeom prst="roundRect">
            <a:avLst>
              <a:gd name="adj" fmla="val 24481"/>
            </a:avLst>
          </a:prstGeom>
          <a:solidFill>
            <a:srgbClr val="D94B4B">
              <a:alpha val="6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1167765" y="9517618"/>
            <a:ext cx="102870" cy="102870"/>
          </a:xfrm>
          <a:prstGeom prst="ellipse">
            <a:avLst/>
          </a:prstGeom>
          <a:solidFill>
            <a:srgbClr val="2ECC71">
              <a:alpha val="8800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1438275" y="9458623"/>
            <a:ext cx="9191906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spc="48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produção </a:t>
            </a:r>
            <a:pPr algn="l" indent="0" marL="0">
              <a:lnSpc>
                <a:spcPct val="145000"/>
              </a:lnSpc>
              <a:buNone/>
            </a:pPr>
            <a:r>
              <a:rPr lang="en-US" sz="1200" spc="4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Últimos 30 dias · conta real Kokeshi / Gobeaute · </a:t>
            </a:r>
            <a:pPr algn="l" indent="0" marL="0">
              <a:lnSpc>
                <a:spcPct val="145000"/>
              </a:lnSpc>
              <a:buNone/>
            </a:pPr>
            <a:r>
              <a:rPr lang="en-US" sz="1200" b="1" spc="48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R$ 104.481 </a:t>
            </a:r>
            <a:pPr algn="l" indent="0" marL="0">
              <a:lnSpc>
                <a:spcPct val="145000"/>
              </a:lnSpc>
              <a:buNone/>
            </a:pPr>
            <a:r>
              <a:rPr lang="en-US" sz="1200" spc="4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investimento gerenciado no período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47130"/>
            <a:ext cx="133350" cy="13335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3" name="Text 1"/>
          <p:cNvSpPr/>
          <p:nvPr/>
        </p:nvSpPr>
        <p:spPr>
          <a:xfrm>
            <a:off x="1181100" y="789533"/>
            <a:ext cx="914251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GoTrends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5851" y="457200"/>
            <a:ext cx="9525" cy="30375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28726" y="457200"/>
            <a:ext cx="966787" cy="341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escala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6726942" y="457200"/>
            <a:ext cx="722858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047750"/>
            <a:ext cx="1695297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31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KOKESHI É SÓ O COMEÇO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1431578"/>
            <a:ext cx="1695297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14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marca hoje. </a:t>
            </a:r>
            <a:pPr algn="l" indent="0" marL="0">
              <a:lnSpc>
                <a:spcPct val="100000"/>
              </a:lnSpc>
              <a:buNone/>
            </a:pPr>
            <a:r>
              <a:rPr lang="en-US" sz="7200" b="1" spc="-144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Oito amanhã.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914400" y="2517428"/>
            <a:ext cx="1177290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arquitetura do GoTrends é por contexto de negócio. Trocar de marca é trocar um arquivo — não reconstruir o sistema.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3734544"/>
            <a:ext cx="16952976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GOBEAUTE · 7 MARCAS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914400" y="4057799"/>
            <a:ext cx="1409700" cy="1409700"/>
          </a:xfrm>
          <a:prstGeom prst="roundRect">
            <a:avLst>
              <a:gd name="adj" fmla="val 16216"/>
            </a:avLst>
          </a:prstGeom>
          <a:solidFill>
            <a:srgbClr val="D94B4B">
              <a:alpha val="18000"/>
            </a:srgbClr>
          </a:solidFill>
          <a:ln w="9525">
            <a:solidFill>
              <a:srgbClr val="D94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5545" y="4456361"/>
            <a:ext cx="3036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344067" y="4875461"/>
            <a:ext cx="626418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Kokeshi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53952" y="3972074"/>
            <a:ext cx="536823" cy="238571"/>
          </a:xfrm>
          <a:prstGeom prst="roundRect">
            <a:avLst>
              <a:gd name="adj" fmla="val 50000"/>
            </a:avLst>
          </a:prstGeom>
          <a:solidFill>
            <a:srgbClr val="D94B4B"/>
          </a:solidFill>
          <a:ln w="9525">
            <a:solidFill>
              <a:srgbClr val="D94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49202" y="4029224"/>
            <a:ext cx="422523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spc="1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2552700" y="4057799"/>
            <a:ext cx="1409700" cy="1409700"/>
          </a:xfrm>
          <a:prstGeom prst="roundRect">
            <a:avLst>
              <a:gd name="adj" fmla="val 16216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8820" y="4456361"/>
            <a:ext cx="233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B6B6B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988915" y="4875461"/>
            <a:ext cx="613470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1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Lescent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25267" y="3972074"/>
            <a:ext cx="703808" cy="238571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0517" y="4029224"/>
            <a:ext cx="589508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spc="12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</a:t>
            </a:r>
            <a:endParaRPr lang="en-US" sz="675" dirty="0"/>
          </a:p>
        </p:txBody>
      </p:sp>
      <p:sp>
        <p:nvSpPr>
          <p:cNvPr id="21" name="Shape 19"/>
          <p:cNvSpPr/>
          <p:nvPr/>
        </p:nvSpPr>
        <p:spPr>
          <a:xfrm>
            <a:off x="4191000" y="4057799"/>
            <a:ext cx="1409700" cy="1409700"/>
          </a:xfrm>
          <a:prstGeom prst="roundRect">
            <a:avLst>
              <a:gd name="adj" fmla="val 16216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067" y="4456361"/>
            <a:ext cx="3217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B6B6B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4696420" y="4875461"/>
            <a:ext cx="47505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1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Ápice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63567" y="3972074"/>
            <a:ext cx="703808" cy="238571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8817" y="4029224"/>
            <a:ext cx="589508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spc="12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</a:t>
            </a:r>
            <a:endParaRPr lang="en-US" sz="675" dirty="0"/>
          </a:p>
        </p:txBody>
      </p:sp>
      <p:sp>
        <p:nvSpPr>
          <p:cNvPr id="26" name="Shape 24"/>
          <p:cNvSpPr/>
          <p:nvPr/>
        </p:nvSpPr>
        <p:spPr>
          <a:xfrm>
            <a:off x="5829300" y="4057799"/>
            <a:ext cx="1409700" cy="1409700"/>
          </a:xfrm>
          <a:prstGeom prst="roundRect">
            <a:avLst>
              <a:gd name="adj" fmla="val 16216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3868" y="4456361"/>
            <a:ext cx="29676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B6B6B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6198989" y="4875461"/>
            <a:ext cx="74652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1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Barbour's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01867" y="3972074"/>
            <a:ext cx="703808" cy="238571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7117" y="4029224"/>
            <a:ext cx="589508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spc="12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7467600" y="4057799"/>
            <a:ext cx="1409700" cy="1409700"/>
          </a:xfrm>
          <a:prstGeom prst="roundRect">
            <a:avLst>
              <a:gd name="adj" fmla="val 16216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62466" y="4456361"/>
            <a:ext cx="29601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B6B6B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7894588" y="4875461"/>
            <a:ext cx="631775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1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Rituária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40167" y="3972074"/>
            <a:ext cx="703808" cy="238571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5417" y="4029224"/>
            <a:ext cx="589508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spc="12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</a:t>
            </a:r>
            <a:endParaRPr lang="en-US" sz="675" dirty="0"/>
          </a:p>
        </p:txBody>
      </p:sp>
      <p:sp>
        <p:nvSpPr>
          <p:cNvPr id="36" name="Shape 34"/>
          <p:cNvSpPr/>
          <p:nvPr/>
        </p:nvSpPr>
        <p:spPr>
          <a:xfrm>
            <a:off x="9105900" y="4057799"/>
            <a:ext cx="1409700" cy="1409700"/>
          </a:xfrm>
          <a:prstGeom prst="roundRect">
            <a:avLst>
              <a:gd name="adj" fmla="val 16216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06273" y="4456361"/>
            <a:ext cx="2851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B6B6B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9481542" y="4875461"/>
            <a:ext cx="734616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1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Samia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878467" y="3972074"/>
            <a:ext cx="703808" cy="238571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73717" y="4029224"/>
            <a:ext cx="589508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spc="12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10744200" y="4057799"/>
            <a:ext cx="1409700" cy="1409700"/>
          </a:xfrm>
          <a:prstGeom prst="roundRect">
            <a:avLst>
              <a:gd name="adj" fmla="val 16216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326267" y="4456361"/>
            <a:ext cx="3217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6B6B6B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700" dirty="0"/>
          </a:p>
        </p:txBody>
      </p:sp>
      <p:sp>
        <p:nvSpPr>
          <p:cNvPr id="43" name="Text 41"/>
          <p:cNvSpPr/>
          <p:nvPr/>
        </p:nvSpPr>
        <p:spPr>
          <a:xfrm>
            <a:off x="11307961" y="4875461"/>
            <a:ext cx="358378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1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Auá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1516767" y="3972074"/>
            <a:ext cx="703808" cy="238571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612017" y="4029224"/>
            <a:ext cx="589508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spc="12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</a:t>
            </a:r>
            <a:endParaRPr lang="en-US" sz="675" dirty="0"/>
          </a:p>
        </p:txBody>
      </p:sp>
      <p:sp>
        <p:nvSpPr>
          <p:cNvPr id="46" name="Shape 44"/>
          <p:cNvSpPr/>
          <p:nvPr/>
        </p:nvSpPr>
        <p:spPr>
          <a:xfrm>
            <a:off x="12382500" y="4057799"/>
            <a:ext cx="1905000" cy="1409700"/>
          </a:xfrm>
          <a:prstGeom prst="roundRect">
            <a:avLst>
              <a:gd name="adj" fmla="val 16216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2889855" y="4513511"/>
            <a:ext cx="9664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spc="36" kern="0" dirty="0">
                <a:solidFill>
                  <a:srgbClr val="6B6B6B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gocase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2798623" y="4818311"/>
            <a:ext cx="1148804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1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outro vertical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3455402" y="3972074"/>
            <a:ext cx="898773" cy="238571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550652" y="4029224"/>
            <a:ext cx="784473" cy="16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675" b="1" spc="12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COMPATÍVEL</a:t>
            </a:r>
            <a:endParaRPr lang="en-US" sz="675" dirty="0"/>
          </a:p>
        </p:txBody>
      </p:sp>
      <p:sp>
        <p:nvSpPr>
          <p:cNvPr id="51" name="Shape 49"/>
          <p:cNvSpPr/>
          <p:nvPr/>
        </p:nvSpPr>
        <p:spPr>
          <a:xfrm>
            <a:off x="914400" y="5848499"/>
            <a:ext cx="16459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914400" y="6200924"/>
            <a:ext cx="6278880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infraestrutura. </a:t>
            </a:r>
            <a:pPr algn="l" indent="0" marL="0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cliente interno.</a:t>
            </a:r>
            <a:endParaRPr lang="en-US" sz="3150" dirty="0"/>
          </a:p>
        </p:txBody>
      </p:sp>
      <p:sp>
        <p:nvSpPr>
          <p:cNvPr id="53" name="Text 51"/>
          <p:cNvSpPr/>
          <p:nvPr/>
        </p:nvSpPr>
        <p:spPr>
          <a:xfrm>
            <a:off x="914400" y="7252246"/>
            <a:ext cx="5690235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marca tem o seu ticket, o seu calendário e o seu vocabulário. O agente do GoTrends carrega esse contexto e o motor de decisão se mantém. Sem reescrever pipeline. Sem refazer integração.</a:t>
            </a:r>
            <a:endParaRPr lang="en-US" sz="1275" dirty="0"/>
          </a:p>
        </p:txBody>
      </p:sp>
      <p:sp>
        <p:nvSpPr>
          <p:cNvPr id="54" name="Shape 52"/>
          <p:cNvSpPr/>
          <p:nvPr/>
        </p:nvSpPr>
        <p:spPr>
          <a:xfrm>
            <a:off x="9826079" y="6657529"/>
            <a:ext cx="7547521" cy="890885"/>
          </a:xfrm>
          <a:prstGeom prst="roundRect">
            <a:avLst>
              <a:gd name="adj" fmla="val 19245"/>
            </a:avLst>
          </a:prstGeom>
          <a:solidFill>
            <a:srgbClr val="1616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338745" y="6667054"/>
            <a:ext cx="9525" cy="87183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045154" y="6895654"/>
            <a:ext cx="216024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10045154" y="7104608"/>
            <a:ext cx="216024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 de contexto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14851410" y="6667054"/>
            <a:ext cx="9525" cy="87183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2557820" y="6895654"/>
            <a:ext cx="216024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MANTÉM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12557820" y="7104608"/>
            <a:ext cx="216024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· agente · stack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15070485" y="6895654"/>
            <a:ext cx="2160240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b="1" spc="18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15070485" y="7104608"/>
            <a:ext cx="216024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marca operando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27239" y="457200"/>
            <a:ext cx="722561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spc="189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09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14400" y="3076129"/>
            <a:ext cx="15697200" cy="346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spc="-2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analista continua aqui. Agora com o </a:t>
            </a:r>
            <a:pPr algn="l" indent="0" marL="0">
              <a:lnSpc>
                <a:spcPct val="100000"/>
              </a:lnSpc>
              <a:buNone/>
            </a:pPr>
            <a:r>
              <a:rPr lang="en-US" sz="9000" b="1" spc="-225" kern="0" dirty="0">
                <a:solidFill>
                  <a:srgbClr val="D9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do negócio inteiro </a:t>
            </a:r>
            <a:pPr algn="l" indent="0" marL="0">
              <a:lnSpc>
                <a:spcPct val="100000"/>
              </a:lnSpc>
              <a:buNone/>
            </a:pPr>
            <a:r>
              <a:rPr lang="en-US" sz="9000" b="1" spc="-22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mesa.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914400" y="7029450"/>
            <a:ext cx="114300" cy="114300"/>
          </a:xfrm>
          <a:prstGeom prst="ellipse">
            <a:avLst/>
          </a:prstGeom>
          <a:solidFill>
            <a:srgbClr val="D94B4B"/>
          </a:solidFill>
          <a:ln/>
        </p:spPr>
      </p:sp>
      <p:sp>
        <p:nvSpPr>
          <p:cNvPr id="5" name="Text 3"/>
          <p:cNvSpPr/>
          <p:nvPr/>
        </p:nvSpPr>
        <p:spPr>
          <a:xfrm>
            <a:off x="1162050" y="6962329"/>
            <a:ext cx="650360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spc="432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GOTRENDS · PILOTO KOKESHI · GOBEAUTE · 2026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2931" y="9220200"/>
            <a:ext cx="457200" cy="45720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23481" y="9352062"/>
            <a:ext cx="1026319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b="1" spc="231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GOTRENDS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2026-04-25T11:53:06Z</dcterms:created>
  <dcterms:modified xsi:type="dcterms:W3CDTF">2026-04-25T11:53:06Z</dcterms:modified>
</cp:coreProperties>
</file>