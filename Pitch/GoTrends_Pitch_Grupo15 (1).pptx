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0:00 – 0:12 (~12s)
"No mercado de beleza, o desejo muda na velocidade de um post viral. E a Kokeshi está pagando caro por chegar 24 horas atrasada. Apresentamos GoTrends."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0:12 – 0:27 (~15s)
"Um time que cobre o ecossistema Gogroup ponta a ponta: Growth, Marketing de Influência, B2B Gobeaute, B2B Gocase e Transportes. Cinco áreas construíram juntas uma resposta para uma dor que é do grupo inteiro."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0:27 – 0:57 (~30s)
"Hoje existe um teto invisível no nosso Google Ads. O analista gasta cerca de 8 horas por semana escolhendo termo pelo feeling. O monitoramento é amostral — só uns 15% dos termos ficam no radar, o long tail fica invisível. E uma tendência no setor de beleza vive entre 24 e 72 horas. Se a decisão não for rápida, o CPC explode e o ROI some. Enquanto a gente analisa a planilha, a concorrência já comprou a tendência."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0:57 – 1:27 (~30s)
"GoTrends é um agente de IA que automatiza a inteligência de busca. Ele opera em dois modos. Modo Oportunista: detecta picos de interesse em rituais de beleza e sugere termos em tempo real. E o nosso grande diferencial — o Modo Preventivo: ele lê o calendário de lançamentos da Kokeshi e aquece as campanhas antes da concorrência chegar. Escala da máquina, filtro do humano."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1:27 – 2:02 (~35s)
"O fluxo é simples e seguro. Primeiro, o agente monitora o canal de Trends e cruza com o catálogo da Kokeshi. Segundo, a IA projeta o impacto e sugere os termos validados. Terceiro — e esse passo é inegociável — um gestor aprova no dashboard com um clique. Só então o agente injeta os termos no Google Ads via API. É por isso que a gente chama de Human-in-the-loop: zero risco operacional, máxima velocidade de execução."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2:02 – 2:35 (~33s)
"Na prática é isso. O dashboard mostra dois alertas em paralelo. O primeiro é Oportunista: a busca por 'skincare minimalista' disparou 120% — o agente já calculou o impacto e pede aprovação para alocar R$ 500 por dia no Kit Essential. O segundo é Preventivo: a Linha Noturna lança em 10 dias — ele propõe aquecer 'reparação noturna' agora, antes da concorrência acordar. Um clique em aprovar e os termos vão pro Google Ads via API. É assim que a gente tira dias de planilha e vira uma decisão de segundos."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2:35 – 2:55 (~20s)
"E o GoTrends não para no marketing da Kokeshi. Os mesmos dados viram Termos de Ouro para Influência, moodboards para o Design da Gocase, alertas de produção antecipada para o Supply e argumento de consultoria para o B2B. Uma engrenagem só, alimentando marketing, vendas, produto e operações."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2:55 – 3:00 (~5s — entrega final curta, número na cabeça)
OBS: este slide é a ÂNCORA. Ler só a linha de CPA e ROAS + hipótese.
"CPA caindo 35%, ROAS subindo 40%, 10x mais termos cobertos. Dominar a intenção de busca antes da concorrência transforma marketing em máquina de lucro e escala. Não acompanhe tendências. Antecipe-as. GoTrends. Obrigado."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7D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3143"/>
            </a:avLst>
          </a:prstGeom>
          <a:solidFill>
            <a:srgbClr val="2659A5"/>
          </a:solidFill>
          <a:ln w="12700">
            <a:solidFill>
              <a:srgbClr val="2659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02920"/>
            <a:ext cx="164592" cy="164592"/>
          </a:xfrm>
          <a:prstGeom prst="ellipse">
            <a:avLst/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502920"/>
            <a:ext cx="164592" cy="164592"/>
          </a:xfrm>
          <a:prstGeom prst="ellipse">
            <a:avLst/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502920"/>
            <a:ext cx="164592" cy="164592"/>
          </a:xfrm>
          <a:prstGeom prst="ellipse">
            <a:avLst/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65615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65615" y="4572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CONSTRUINDO O FUTURO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598932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9893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GRUPO 15  •  GOHACKS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GoTrends</a:t>
            </a:r>
            <a:endParaRPr lang="en-US" sz="15000" dirty="0"/>
          </a:p>
        </p:txBody>
      </p:sp>
      <p:sp>
        <p:nvSpPr>
          <p:cNvPr id="11" name="Shape 9"/>
          <p:cNvSpPr/>
          <p:nvPr/>
        </p:nvSpPr>
        <p:spPr>
          <a:xfrm>
            <a:off x="594360" y="3794760"/>
            <a:ext cx="1005840" cy="109728"/>
          </a:xfrm>
          <a:prstGeom prst="roundRect">
            <a:avLst>
              <a:gd name="adj" fmla="val 50000"/>
            </a:avLst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9776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Inteligência Preditiva</a:t>
            </a:r>
            <a:endParaRPr lang="en-US" sz="3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o Desejo do Consumidor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48640" y="5715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agente de IA do Gogroup  •  piloto: Kokeshi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362895" y="5029200"/>
            <a:ext cx="1188720" cy="1188720"/>
          </a:xfrm>
          <a:prstGeom prst="ellipse">
            <a:avLst/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62895" y="5029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</a:t>
            </a:r>
            <a:endParaRPr lang="en-US" sz="7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3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146304"/>
          </a:xfrm>
          <a:prstGeom prst="ellipse">
            <a:avLst/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502920"/>
            <a:ext cx="146304" cy="146304"/>
          </a:xfrm>
          <a:prstGeom prst="ellipse">
            <a:avLst/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502920"/>
            <a:ext cx="146304" cy="146304"/>
          </a:xfrm>
          <a:prstGeom prst="ellipse">
            <a:avLst/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65615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65615" y="4572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CONSTRUINDO O FUTURO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2194560" cy="411480"/>
          </a:xfrm>
          <a:prstGeom prst="roundRect">
            <a:avLst>
              <a:gd name="adj" fmla="val 50000"/>
            </a:avLst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51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Somos o Grupo 15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F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Multidisciplinar. Ponta firme. Mesmo barco.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5712" y="3383280"/>
            <a:ext cx="2103120" cy="256032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5712" y="3383280"/>
            <a:ext cx="2103120" cy="731520"/>
          </a:xfrm>
          <a:prstGeom prst="roundRect">
            <a:avLst>
              <a:gd name="adj" fmla="val 22500"/>
            </a:avLst>
          </a:prstGeom>
          <a:solidFill>
            <a:srgbClr val="E61782"/>
          </a:solidFill>
          <a:ln w="12700">
            <a:solidFill>
              <a:srgbClr val="E617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5712" y="3840480"/>
            <a:ext cx="2103120" cy="274320"/>
          </a:xfrm>
          <a:prstGeom prst="rect">
            <a:avLst/>
          </a:prstGeom>
          <a:solidFill>
            <a:srgbClr val="E61782"/>
          </a:solidFill>
          <a:ln w="12700">
            <a:solidFill>
              <a:srgbClr val="E617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4352" y="3749040"/>
            <a:ext cx="1005840" cy="10058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617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4352" y="3749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17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CB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27152" y="4846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Carla Bruna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72872" y="534924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659A5"/>
          </a:solidFill>
          <a:ln w="12700">
            <a:solidFill>
              <a:srgbClr val="2659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2872" y="5349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B2B Gobeaute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0000" y="3383280"/>
            <a:ext cx="2103120" cy="256032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0000" y="3383280"/>
            <a:ext cx="2103120" cy="731520"/>
          </a:xfrm>
          <a:prstGeom prst="roundRect">
            <a:avLst>
              <a:gd name="adj" fmla="val 22500"/>
            </a:avLst>
          </a:prstGeom>
          <a:solidFill>
            <a:srgbClr val="E5381A"/>
          </a:solidFill>
          <a:ln w="12700">
            <a:solidFill>
              <a:srgbClr val="E538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0000" y="3840480"/>
            <a:ext cx="2103120" cy="274320"/>
          </a:xfrm>
          <a:prstGeom prst="rect">
            <a:avLst/>
          </a:prstGeom>
          <a:solidFill>
            <a:srgbClr val="E5381A"/>
          </a:solidFill>
          <a:ln w="12700">
            <a:solidFill>
              <a:srgbClr val="E538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88640" y="3749040"/>
            <a:ext cx="1005840" cy="10058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538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88640" y="3749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538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CM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2831440" y="4846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Clara Maíra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877160" y="534924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659A5"/>
          </a:solidFill>
          <a:ln w="12700">
            <a:solidFill>
              <a:srgbClr val="2659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77160" y="5349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Marketing Influência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44288" y="3383280"/>
            <a:ext cx="2103120" cy="256032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44288" y="3383280"/>
            <a:ext cx="2103120" cy="731520"/>
          </a:xfrm>
          <a:prstGeom prst="roundRect">
            <a:avLst>
              <a:gd name="adj" fmla="val 22500"/>
            </a:avLst>
          </a:prstGeom>
          <a:solidFill>
            <a:srgbClr val="2659A5"/>
          </a:solidFill>
          <a:ln w="12700">
            <a:solidFill>
              <a:srgbClr val="2659A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44288" y="3840480"/>
            <a:ext cx="2103120" cy="274320"/>
          </a:xfrm>
          <a:prstGeom prst="rect">
            <a:avLst/>
          </a:prstGeom>
          <a:solidFill>
            <a:srgbClr val="2659A5"/>
          </a:solidFill>
          <a:ln w="12700">
            <a:solidFill>
              <a:srgbClr val="2659A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92928" y="3749040"/>
            <a:ext cx="1005840" cy="10058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659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92928" y="3749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GM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5135728" y="4846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Guilherme Maia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181448" y="534924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659A5"/>
          </a:solidFill>
          <a:ln w="12700">
            <a:solidFill>
              <a:srgbClr val="2659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81448" y="5349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Growth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48576" y="3383280"/>
            <a:ext cx="2103120" cy="256032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48576" y="3383280"/>
            <a:ext cx="2103120" cy="731520"/>
          </a:xfrm>
          <a:prstGeom prst="roundRect">
            <a:avLst>
              <a:gd name="adj" fmla="val 22500"/>
            </a:avLst>
          </a:prstGeom>
          <a:solidFill>
            <a:srgbClr val="3DBFEF"/>
          </a:solidFill>
          <a:ln w="12700">
            <a:solidFill>
              <a:srgbClr val="3DBF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48576" y="3840480"/>
            <a:ext cx="2103120" cy="274320"/>
          </a:xfrm>
          <a:prstGeom prst="rect">
            <a:avLst/>
          </a:prstGeom>
          <a:solidFill>
            <a:srgbClr val="3DBFEF"/>
          </a:solidFill>
          <a:ln w="12700">
            <a:solidFill>
              <a:srgbClr val="3DBF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97216" y="3749040"/>
            <a:ext cx="1005840" cy="10058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DBF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97216" y="3749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DBF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MG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7440016" y="4846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Mário Gonzaga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7485736" y="534924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659A5"/>
          </a:solidFill>
          <a:ln w="12700">
            <a:solidFill>
              <a:srgbClr val="2659A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85736" y="5349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Transportes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652864" y="3383280"/>
            <a:ext cx="2103120" cy="256032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652864" y="3383280"/>
            <a:ext cx="2103120" cy="731520"/>
          </a:xfrm>
          <a:prstGeom prst="roundRect">
            <a:avLst>
              <a:gd name="adj" fmla="val 22500"/>
            </a:avLst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652864" y="3840480"/>
            <a:ext cx="2103120" cy="274320"/>
          </a:xfrm>
          <a:prstGeom prst="rect">
            <a:avLst/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201504" y="3749040"/>
            <a:ext cx="1005840" cy="10058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7D9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201504" y="3749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SS</a:t>
            </a:r>
            <a:endParaRPr lang="en-US" sz="3200" dirty="0"/>
          </a:p>
        </p:txBody>
      </p:sp>
      <p:sp>
        <p:nvSpPr>
          <p:cNvPr id="48" name="Text 46"/>
          <p:cNvSpPr/>
          <p:nvPr/>
        </p:nvSpPr>
        <p:spPr>
          <a:xfrm>
            <a:off x="9744304" y="4846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Samuel Soares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9790024" y="534924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659A5"/>
          </a:solidFill>
          <a:ln w="12700">
            <a:solidFill>
              <a:srgbClr val="2659A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790024" y="5349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B2B Gocase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124048" y="6080760"/>
            <a:ext cx="5943600" cy="457200"/>
          </a:xfrm>
          <a:prstGeom prst="roundRect">
            <a:avLst>
              <a:gd name="adj" fmla="val 50000"/>
            </a:avLst>
          </a:prstGeom>
          <a:solidFill>
            <a:srgbClr val="2659A5"/>
          </a:solidFill>
          <a:ln w="12700">
            <a:solidFill>
              <a:srgbClr val="2659A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24048" y="60807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ÁREAS. UMA SÓ VISÃO. UM AGENTE.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7D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3143"/>
            </a:avLst>
          </a:prstGeom>
          <a:solidFill>
            <a:srgbClr val="2659A5"/>
          </a:solidFill>
          <a:ln w="12700">
            <a:solidFill>
              <a:srgbClr val="2659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02920"/>
            <a:ext cx="164592" cy="164592"/>
          </a:xfrm>
          <a:prstGeom prst="ellipse">
            <a:avLst/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502920"/>
            <a:ext cx="164592" cy="164592"/>
          </a:xfrm>
          <a:prstGeom prst="ellipse">
            <a:avLst/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502920"/>
            <a:ext cx="164592" cy="164592"/>
          </a:xfrm>
          <a:prstGeom prst="ellipse">
            <a:avLst/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65615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5273C"/>
          </a:solidFill>
          <a:ln w="12700">
            <a:solidFill>
              <a:srgbClr val="E527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65615" y="4572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PROBLEMA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Teto da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Curadoria Manual.</a:t>
            </a:r>
            <a:endParaRPr lang="en-US" sz="6800" dirty="0"/>
          </a:p>
        </p:txBody>
      </p:sp>
      <p:sp>
        <p:nvSpPr>
          <p:cNvPr id="10" name="Text 8"/>
          <p:cNvSpPr/>
          <p:nvPr/>
        </p:nvSpPr>
        <p:spPr>
          <a:xfrm>
            <a:off x="548640" y="29718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3DBF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Analistas escolhendo termos pelo feeling. Planilha vence IA. Concorrência vence a gente.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18008" y="3657600"/>
            <a:ext cx="3566160" cy="2377440"/>
          </a:xfrm>
          <a:prstGeom prst="roundRect">
            <a:avLst>
              <a:gd name="adj" fmla="val 6923"/>
            </a:avLst>
          </a:prstGeom>
          <a:solidFill>
            <a:srgbClr val="1E4580"/>
          </a:solidFill>
          <a:ln w="25400">
            <a:solidFill>
              <a:srgbClr val="E527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15488" y="3931920"/>
            <a:ext cx="594360" cy="594360"/>
          </a:xfrm>
          <a:prstGeom prst="ellipse">
            <a:avLst/>
          </a:prstGeom>
          <a:solidFill>
            <a:srgbClr val="2659A5"/>
          </a:solidFill>
          <a:ln w="25400">
            <a:solidFill>
              <a:srgbClr val="E5273C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5216" y="4041648"/>
            <a:ext cx="384048" cy="38404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92328" y="3840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527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~8h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792328" y="4709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/semana</a:t>
            </a:r>
            <a:pPr algn="l" indent="0" marL="0">
              <a:buNone/>
            </a:pPr>
            <a:r>
              <a:rPr lang="en-US" sz="1200" spc="100" kern="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em curadoria manual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92328" y="5138928"/>
            <a:ext cx="457200" cy="36576"/>
          </a:xfrm>
          <a:prstGeom prst="rect">
            <a:avLst/>
          </a:prstGeom>
          <a:solidFill>
            <a:srgbClr val="E5273C"/>
          </a:solidFill>
          <a:ln w="12700">
            <a:solidFill>
              <a:srgbClr val="E527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2328" y="5257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Analista refém da planilha — "feeling" no lugar de dado.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312768" y="3657600"/>
            <a:ext cx="3566160" cy="2377440"/>
          </a:xfrm>
          <a:prstGeom prst="roundRect">
            <a:avLst>
              <a:gd name="adj" fmla="val 6923"/>
            </a:avLst>
          </a:prstGeom>
          <a:solidFill>
            <a:srgbClr val="1E4580"/>
          </a:solidFill>
          <a:ln w="25400">
            <a:solidFill>
              <a:srgbClr val="3DBFE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010248" y="3931920"/>
            <a:ext cx="594360" cy="594360"/>
          </a:xfrm>
          <a:prstGeom prst="ellipse">
            <a:avLst/>
          </a:prstGeom>
          <a:solidFill>
            <a:srgbClr val="2659A5"/>
          </a:solidFill>
          <a:ln w="25400">
            <a:solidFill>
              <a:srgbClr val="3DBFEF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9976" y="4041648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587088" y="3840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3DBF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~15%</a:t>
            </a:r>
            <a:endParaRPr lang="en-US" sz="4400" dirty="0"/>
          </a:p>
        </p:txBody>
      </p:sp>
      <p:sp>
        <p:nvSpPr>
          <p:cNvPr id="22" name="Text 18"/>
          <p:cNvSpPr/>
          <p:nvPr/>
        </p:nvSpPr>
        <p:spPr>
          <a:xfrm>
            <a:off x="4587088" y="4709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dos termos</a:t>
            </a:r>
            <a:pPr algn="l" indent="0" marL="0">
              <a:buNone/>
            </a:pPr>
            <a:r>
              <a:rPr lang="en-US" sz="1200" spc="100" kern="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monitorados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587088" y="5138928"/>
            <a:ext cx="457200" cy="36576"/>
          </a:xfrm>
          <a:prstGeom prst="rect">
            <a:avLst/>
          </a:prstGeom>
          <a:solidFill>
            <a:srgbClr val="3DBFEF"/>
          </a:solidFill>
          <a:ln w="12700">
            <a:solidFill>
              <a:srgbClr val="3DBFE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587088" y="5257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long tail fica invisível. É onde a concorrência ganha.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107528" y="3657600"/>
            <a:ext cx="3566160" cy="2377440"/>
          </a:xfrm>
          <a:prstGeom prst="roundRect">
            <a:avLst>
              <a:gd name="adj" fmla="val 6923"/>
            </a:avLst>
          </a:prstGeom>
          <a:solidFill>
            <a:srgbClr val="1E4580"/>
          </a:solidFill>
          <a:ln w="25400">
            <a:solidFill>
              <a:srgbClr val="D7D90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0805008" y="3931920"/>
            <a:ext cx="594360" cy="594360"/>
          </a:xfrm>
          <a:prstGeom prst="ellipse">
            <a:avLst/>
          </a:prstGeom>
          <a:solidFill>
            <a:srgbClr val="2659A5"/>
          </a:solidFill>
          <a:ln w="25400">
            <a:solidFill>
              <a:srgbClr val="D7D900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4736" y="4041648"/>
            <a:ext cx="384048" cy="38404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381848" y="3840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24-72h</a:t>
            </a:r>
            <a:endParaRPr lang="en-US" sz="4400" dirty="0"/>
          </a:p>
        </p:txBody>
      </p:sp>
      <p:sp>
        <p:nvSpPr>
          <p:cNvPr id="29" name="Text 24"/>
          <p:cNvSpPr/>
          <p:nvPr/>
        </p:nvSpPr>
        <p:spPr>
          <a:xfrm>
            <a:off x="8381848" y="4709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vida</a:t>
            </a:r>
            <a:pPr algn="l" indent="0" marL="0">
              <a:buNone/>
            </a:pPr>
            <a:r>
              <a:rPr lang="en-US" sz="1200" spc="100" kern="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de uma tendência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8381848" y="5138928"/>
            <a:ext cx="457200" cy="36576"/>
          </a:xfrm>
          <a:prstGeom prst="rect">
            <a:avLst/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381848" y="5257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a decisão demora, o CPC sobe e o ROI evapora.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548640" y="6172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Fonte: operação interna Kokeshi (estimativa) + benchmarks de mercado — Google Ads / setor de beleza BR.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3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146304"/>
          </a:xfrm>
          <a:prstGeom prst="ellipse">
            <a:avLst/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502920"/>
            <a:ext cx="146304" cy="146304"/>
          </a:xfrm>
          <a:prstGeom prst="ellipse">
            <a:avLst/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502920"/>
            <a:ext cx="146304" cy="146304"/>
          </a:xfrm>
          <a:prstGeom prst="ellipse">
            <a:avLst/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65615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2659A5"/>
          </a:solidFill>
          <a:ln w="12700">
            <a:solidFill>
              <a:srgbClr val="2659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65615" y="4572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SOLUÇÃO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2926080" cy="411480"/>
          </a:xfrm>
          <a:prstGeom prst="roundRect">
            <a:avLst>
              <a:gd name="adj" fmla="val 50000"/>
            </a:avLst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51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AGENTE DE 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GoTrends: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617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Escala com Governança.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0F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Dois modos de operação. Uma só promessa: antecipar o desejo do cliente.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18008" y="3749040"/>
            <a:ext cx="5394960" cy="292608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8048" y="402336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E5381A"/>
          </a:solidFill>
          <a:ln w="12700">
            <a:solidFill>
              <a:srgbClr val="E538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048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MODO OPORTUNISTA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69968" y="3977640"/>
            <a:ext cx="822960" cy="822960"/>
          </a:xfrm>
          <a:prstGeom prst="ellipse">
            <a:avLst/>
          </a:prstGeom>
          <a:solidFill>
            <a:srgbClr val="FEF3D9"/>
          </a:solidFill>
          <a:ln w="25400">
            <a:solidFill>
              <a:srgbClr val="E5381A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2848" y="4160520"/>
            <a:ext cx="457200" cy="457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38048" y="4617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Reage em tempo real.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838048" y="5166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Detecta picos de busca em ingredientes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F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 rituais de beleza. Sugere novos termos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F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 do pico saturar.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38048" y="5943600"/>
            <a:ext cx="73152" cy="548640"/>
          </a:xfrm>
          <a:prstGeom prst="rect">
            <a:avLst/>
          </a:prstGeom>
          <a:solidFill>
            <a:srgbClr val="E5381A"/>
          </a:solidFill>
          <a:ln w="12700">
            <a:solidFill>
              <a:srgbClr val="E5381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20928" y="58978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Ex: "skincare minimalista" +120% em 48h →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alocar R$ 500/dia no Kit Essential.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78728" y="3749040"/>
            <a:ext cx="5394960" cy="292608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598768" y="402336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2659A5"/>
          </a:solidFill>
          <a:ln w="12700">
            <a:solidFill>
              <a:srgbClr val="2659A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98768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MODO PREVENTIVO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0530688" y="3977640"/>
            <a:ext cx="822960" cy="822960"/>
          </a:xfrm>
          <a:prstGeom prst="ellipse">
            <a:avLst/>
          </a:prstGeom>
          <a:solidFill>
            <a:srgbClr val="FEF3D9"/>
          </a:solidFill>
          <a:ln w="25400">
            <a:solidFill>
              <a:srgbClr val="2659A5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3568" y="4160520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598768" y="4617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Antecipa o mercado.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6598768" y="5166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Lê o calendário de lançamentos da Kokeshi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F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 aquece campanhas antes da concorrência.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F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Melhor índice de qualidade, menor CPC.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598768" y="5943600"/>
            <a:ext cx="73152" cy="548640"/>
          </a:xfrm>
          <a:prstGeom prst="rect">
            <a:avLst/>
          </a:prstGeom>
          <a:solidFill>
            <a:srgbClr val="2659A5"/>
          </a:solidFill>
          <a:ln w="12700">
            <a:solidFill>
              <a:srgbClr val="2659A5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781648" y="58978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Ex: Linha Noturna em 10 dias →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iniciar lances em "reparação noturna".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7D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3143"/>
            </a:avLst>
          </a:prstGeom>
          <a:solidFill>
            <a:srgbClr val="2659A5"/>
          </a:solidFill>
          <a:ln w="12700">
            <a:solidFill>
              <a:srgbClr val="2659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02920"/>
            <a:ext cx="164592" cy="164592"/>
          </a:xfrm>
          <a:prstGeom prst="ellipse">
            <a:avLst/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502920"/>
            <a:ext cx="164592" cy="164592"/>
          </a:xfrm>
          <a:prstGeom prst="ellipse">
            <a:avLst/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502920"/>
            <a:ext cx="164592" cy="164592"/>
          </a:xfrm>
          <a:prstGeom prst="ellipse">
            <a:avLst/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65615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65615" y="4572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515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FLUXO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Trends → IA → Humano → Google Ads.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Human-in-the-loop: zero risco operacional, máxima velocidade.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6588" y="3017520"/>
            <a:ext cx="2514600" cy="30175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9468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40968" y="3703320"/>
            <a:ext cx="1005840" cy="1005840"/>
          </a:xfrm>
          <a:prstGeom prst="ellipse">
            <a:avLst/>
          </a:prstGeom>
          <a:solidFill>
            <a:srgbClr val="2659A5"/>
          </a:solidFill>
          <a:ln w="38100">
            <a:solidFill>
              <a:srgbClr val="2659A5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848" y="3886200"/>
            <a:ext cx="640080" cy="6400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8028" y="4846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69468" y="53035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Google Trends cruzado com o catálogo da Kokeshi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421228" y="3017520"/>
            <a:ext cx="2514600" cy="3017520"/>
          </a:xfrm>
          <a:prstGeom prst="roundRect">
            <a:avLst>
              <a:gd name="adj" fmla="val 7273"/>
            </a:avLst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604108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175608" y="3703320"/>
            <a:ext cx="1005840" cy="10058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659A5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488" y="3886200"/>
            <a:ext cx="640080" cy="640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512668" y="4846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PROJETA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3604108" y="53035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IA calcula o impacto e sugere os termos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255868" y="3017520"/>
            <a:ext cx="2514600" cy="3017520"/>
          </a:xfrm>
          <a:prstGeom prst="roundRect">
            <a:avLst>
              <a:gd name="adj" fmla="val 7273"/>
            </a:avLst>
          </a:prstGeom>
          <a:solidFill>
            <a:srgbClr val="E5381A"/>
          </a:solidFill>
          <a:ln w="12700">
            <a:solidFill>
              <a:srgbClr val="E5381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6438748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7010248" y="3703320"/>
            <a:ext cx="1005840" cy="10058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128" y="3886200"/>
            <a:ext cx="640080" cy="64008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347308" y="4846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APROVA</a:t>
            </a:r>
            <a:endParaRPr lang="en-US" sz="1800" dirty="0"/>
          </a:p>
        </p:txBody>
      </p:sp>
      <p:sp>
        <p:nvSpPr>
          <p:cNvPr id="29" name="Text 24"/>
          <p:cNvSpPr/>
          <p:nvPr/>
        </p:nvSpPr>
        <p:spPr>
          <a:xfrm>
            <a:off x="6438748" y="53035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Gestor decide no dashboard — um clique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9090508" y="3017520"/>
            <a:ext cx="2514600" cy="3017520"/>
          </a:xfrm>
          <a:prstGeom prst="roundRect">
            <a:avLst>
              <a:gd name="adj" fmla="val 7273"/>
            </a:avLst>
          </a:prstGeom>
          <a:solidFill>
            <a:srgbClr val="E61782"/>
          </a:solidFill>
          <a:ln w="12700">
            <a:solidFill>
              <a:srgbClr val="E6178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9273388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9844888" y="3703320"/>
            <a:ext cx="1005840" cy="10058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7768" y="3886200"/>
            <a:ext cx="640080" cy="64008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181948" y="4846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EXECUTA</a:t>
            </a:r>
            <a:endParaRPr lang="en-US" sz="1800" dirty="0"/>
          </a:p>
        </p:txBody>
      </p:sp>
      <p:sp>
        <p:nvSpPr>
          <p:cNvPr id="35" name="Text 29"/>
          <p:cNvSpPr/>
          <p:nvPr/>
        </p:nvSpPr>
        <p:spPr>
          <a:xfrm>
            <a:off x="9273388" y="53035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Termos injetados no Google Ads via API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3119476" y="402336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3200" dirty="0"/>
          </a:p>
        </p:txBody>
      </p:sp>
      <p:sp>
        <p:nvSpPr>
          <p:cNvPr id="37" name="Text 31"/>
          <p:cNvSpPr/>
          <p:nvPr/>
        </p:nvSpPr>
        <p:spPr>
          <a:xfrm>
            <a:off x="5954116" y="402336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3200" dirty="0"/>
          </a:p>
        </p:txBody>
      </p:sp>
      <p:sp>
        <p:nvSpPr>
          <p:cNvPr id="38" name="Text 32"/>
          <p:cNvSpPr/>
          <p:nvPr/>
        </p:nvSpPr>
        <p:spPr>
          <a:xfrm>
            <a:off x="8788756" y="402336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3200" dirty="0"/>
          </a:p>
        </p:txBody>
      </p:sp>
      <p:sp>
        <p:nvSpPr>
          <p:cNvPr id="39" name="Shape 33"/>
          <p:cNvSpPr/>
          <p:nvPr/>
        </p:nvSpPr>
        <p:spPr>
          <a:xfrm>
            <a:off x="3581248" y="6172200"/>
            <a:ext cx="5029200" cy="411480"/>
          </a:xfrm>
          <a:prstGeom prst="roundRect">
            <a:avLst>
              <a:gd name="adj" fmla="val 50000"/>
            </a:avLst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3581248" y="6172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APROVAÇÃO HUMANA É INEGOCIÁVEL.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3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146304"/>
          </a:xfrm>
          <a:prstGeom prst="ellipse">
            <a:avLst/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502920"/>
            <a:ext cx="146304" cy="146304"/>
          </a:xfrm>
          <a:prstGeom prst="ellipse">
            <a:avLst/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502920"/>
            <a:ext cx="146304" cy="146304"/>
          </a:xfrm>
          <a:prstGeom prst="ellipse">
            <a:avLst/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65615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61782"/>
          </a:solidFill>
          <a:ln w="12700">
            <a:solidFill>
              <a:srgbClr val="E617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65615" y="4572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DEMO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3474720" cy="411480"/>
          </a:xfrm>
          <a:prstGeom prst="roundRect">
            <a:avLst>
              <a:gd name="adj" fmla="val 50000"/>
            </a:avLst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51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GOTRENDS EM AÇÃO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dashboard da decisão.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F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Dois alertas. Um clique. Campanha no ar.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2880360"/>
            <a:ext cx="69494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880360"/>
            <a:ext cx="6949440" cy="502920"/>
          </a:xfrm>
          <a:prstGeom prst="roundRect">
            <a:avLst>
              <a:gd name="adj" fmla="val 21818"/>
            </a:avLst>
          </a:prstGeom>
          <a:solidFill>
            <a:srgbClr val="2659A5"/>
          </a:solidFill>
          <a:ln w="12700">
            <a:solidFill>
              <a:srgbClr val="2659A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154680"/>
            <a:ext cx="6949440" cy="274320"/>
          </a:xfrm>
          <a:prstGeom prst="rect">
            <a:avLst/>
          </a:prstGeom>
          <a:solidFill>
            <a:srgbClr val="2659A5"/>
          </a:solidFill>
          <a:ln w="12700">
            <a:solidFill>
              <a:srgbClr val="2659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" y="3081528"/>
            <a:ext cx="109728" cy="109728"/>
          </a:xfrm>
          <a:prstGeom prst="ellipse">
            <a:avLst/>
          </a:prstGeom>
          <a:solidFill>
            <a:srgbClr val="E5273C"/>
          </a:solidFill>
          <a:ln w="12700">
            <a:solidFill>
              <a:srgbClr val="E527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" y="3081528"/>
            <a:ext cx="109728" cy="109728"/>
          </a:xfrm>
          <a:prstGeom prst="ellipse">
            <a:avLst/>
          </a:prstGeom>
          <a:solidFill>
            <a:srgbClr val="F8AE13"/>
          </a:solidFill>
          <a:ln w="12700">
            <a:solidFill>
              <a:srgbClr val="F8AE1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" y="3081528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2880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gotrends / dashboard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2971800"/>
            <a:ext cx="320040" cy="320040"/>
          </a:xfrm>
          <a:prstGeom prst="ellipse">
            <a:avLst/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3566160"/>
            <a:ext cx="6492240" cy="1234440"/>
          </a:xfrm>
          <a:prstGeom prst="roundRect">
            <a:avLst>
              <a:gd name="adj" fmla="val 7407"/>
            </a:avLst>
          </a:prstGeom>
          <a:solidFill>
            <a:srgbClr val="FEF3C7"/>
          </a:solidFill>
          <a:ln w="12700">
            <a:solidFill>
              <a:srgbClr val="F8AE1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639312"/>
            <a:ext cx="91440" cy="1088136"/>
          </a:xfrm>
          <a:prstGeom prst="rect">
            <a:avLst/>
          </a:prstGeom>
          <a:solidFill>
            <a:srgbClr val="E5381A"/>
          </a:solidFill>
          <a:ln w="12700">
            <a:solidFill>
              <a:srgbClr val="E538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5840" y="3730752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E5381A"/>
          </a:solidFill>
          <a:ln w="12700">
            <a:solidFill>
              <a:srgbClr val="E538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730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🚨 MODO OPORTUNISTA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05840" y="4023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"Skincare Minimalista"  ↑ +120%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05840" y="4343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Sugestão: alocar R$ 500/dia no Kit Essential.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57800" y="4069080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4069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 APROVAR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4937760"/>
            <a:ext cx="6492240" cy="123444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2700">
            <a:solidFill>
              <a:srgbClr val="2659A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5010912"/>
            <a:ext cx="91440" cy="1088136"/>
          </a:xfrm>
          <a:prstGeom prst="rect">
            <a:avLst/>
          </a:prstGeom>
          <a:solidFill>
            <a:srgbClr val="2659A5"/>
          </a:solidFill>
          <a:ln w="12700">
            <a:solidFill>
              <a:srgbClr val="2659A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" y="5102352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2659A5"/>
          </a:solidFill>
          <a:ln w="12700">
            <a:solidFill>
              <a:srgbClr val="2659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51023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📅 MODO PREVENTIVO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05840" y="5394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Linha Noturna  •  lançamento em 10 dias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05840" y="5715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Sugestão: iniciar lances em "reparação noturna" e "ácido hialurônico".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257800" y="5440680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57800" y="5440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 APROVAR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726680" y="2880360"/>
            <a:ext cx="3962095" cy="3520440"/>
          </a:xfrm>
          <a:prstGeom prst="roundRect">
            <a:avLst>
              <a:gd name="adj" fmla="val 3896"/>
            </a:avLst>
          </a:prstGeom>
          <a:solidFill>
            <a:srgbClr val="2659A5"/>
          </a:solidFill>
          <a:ln w="12700">
            <a:solidFill>
              <a:srgbClr val="2659A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09560" y="3063240"/>
            <a:ext cx="3596335" cy="3154680"/>
          </a:xfrm>
          <a:prstGeom prst="roundRect">
            <a:avLst>
              <a:gd name="adj" fmla="val 2899"/>
            </a:avLst>
          </a:prstGeom>
          <a:solidFill>
            <a:srgbClr val="1E4580"/>
          </a:solidFill>
          <a:ln w="25400">
            <a:solidFill>
              <a:srgbClr val="D7D900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9204808" y="3794760"/>
            <a:ext cx="1005840" cy="1005840"/>
          </a:xfrm>
          <a:prstGeom prst="ellipse">
            <a:avLst/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04808" y="3794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▶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7909560" y="4937760"/>
            <a:ext cx="3596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VÍDEO DEMO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909560" y="5349240"/>
            <a:ext cx="3596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agente executando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ponta a ponta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909560" y="5897880"/>
            <a:ext cx="3596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[inserir gif/vídeo]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3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146304"/>
          </a:xfrm>
          <a:prstGeom prst="ellipse">
            <a:avLst/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502920"/>
            <a:ext cx="146304" cy="146304"/>
          </a:xfrm>
          <a:prstGeom prst="ellipse">
            <a:avLst/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502920"/>
            <a:ext cx="146304" cy="146304"/>
          </a:xfrm>
          <a:prstGeom prst="ellipse">
            <a:avLst/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65615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61782"/>
          </a:solidFill>
          <a:ln w="12700">
            <a:solidFill>
              <a:srgbClr val="E617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65615" y="4572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VISÃO 360°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3291840" cy="411480"/>
          </a:xfrm>
          <a:prstGeom prst="roundRect">
            <a:avLst>
              <a:gd name="adj" fmla="val 50000"/>
            </a:avLst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51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IMPACTO NO GRUPO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camada de inteligência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17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todo o Gogroup.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563728" y="3154680"/>
            <a:ext cx="5394960" cy="141732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3728" y="3319272"/>
            <a:ext cx="128016" cy="1088136"/>
          </a:xfrm>
          <a:prstGeom prst="rect">
            <a:avLst/>
          </a:prstGeom>
          <a:solidFill>
            <a:srgbClr val="E61782"/>
          </a:solidFill>
          <a:ln w="12700">
            <a:solidFill>
              <a:srgbClr val="E617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5208" y="3474720"/>
            <a:ext cx="868680" cy="868680"/>
          </a:xfrm>
          <a:prstGeom prst="ellipse">
            <a:avLst/>
          </a:prstGeom>
          <a:solidFill>
            <a:srgbClr val="FEF3D9"/>
          </a:solidFill>
          <a:ln w="25400">
            <a:solidFill>
              <a:srgbClr val="E61782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088" y="3657600"/>
            <a:ext cx="502920" cy="5029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981048" y="34107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Marketing de Influência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981048" y="381304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"Termos de Ouro" para influencers —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criadores falam o que o público já busca.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33008" y="3154680"/>
            <a:ext cx="5394960" cy="141732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33008" y="3319272"/>
            <a:ext cx="128016" cy="1088136"/>
          </a:xfrm>
          <a:prstGeom prst="rect">
            <a:avLst/>
          </a:prstGeom>
          <a:solidFill>
            <a:srgbClr val="F8AE13"/>
          </a:solidFill>
          <a:ln w="12700">
            <a:solidFill>
              <a:srgbClr val="F8AE1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44488" y="3474720"/>
            <a:ext cx="868680" cy="868680"/>
          </a:xfrm>
          <a:prstGeom prst="ellipse">
            <a:avLst/>
          </a:prstGeom>
          <a:solidFill>
            <a:srgbClr val="FEF3D9"/>
          </a:solidFill>
          <a:ln w="25400">
            <a:solidFill>
              <a:srgbClr val="F8AE13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368" y="3657600"/>
            <a:ext cx="502920" cy="5029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650328" y="34107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Design (Gocase)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7650328" y="381304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Estampas baseadas em picos de busca visual.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Coleção no pico do desejo.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63728" y="4754880"/>
            <a:ext cx="5394960" cy="141732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63728" y="4919472"/>
            <a:ext cx="128016" cy="1088136"/>
          </a:xfrm>
          <a:prstGeom prst="rect">
            <a:avLst/>
          </a:prstGeom>
          <a:solidFill>
            <a:srgbClr val="3DBFEF"/>
          </a:solidFill>
          <a:ln w="12700">
            <a:solidFill>
              <a:srgbClr val="3DBFEF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975208" y="5074920"/>
            <a:ext cx="868680" cy="868680"/>
          </a:xfrm>
          <a:prstGeom prst="ellipse">
            <a:avLst/>
          </a:prstGeom>
          <a:solidFill>
            <a:srgbClr val="FEF3D9"/>
          </a:solidFill>
          <a:ln w="25400">
            <a:solidFill>
              <a:srgbClr val="3DBFEF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088" y="5257800"/>
            <a:ext cx="502920" cy="5029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981048" y="50109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Supply Chain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1981048" y="541324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Alerta de produção e compra antecipada.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Menos ruptura, menos capital parado.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233008" y="4754880"/>
            <a:ext cx="5394960" cy="141732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233008" y="4919472"/>
            <a:ext cx="128016" cy="1088136"/>
          </a:xfrm>
          <a:prstGeom prst="rect">
            <a:avLst/>
          </a:prstGeom>
          <a:solidFill>
            <a:srgbClr val="2659A5"/>
          </a:solidFill>
          <a:ln w="12700">
            <a:solidFill>
              <a:srgbClr val="2659A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644488" y="5074920"/>
            <a:ext cx="868680" cy="868680"/>
          </a:xfrm>
          <a:prstGeom prst="ellipse">
            <a:avLst/>
          </a:prstGeom>
          <a:solidFill>
            <a:srgbClr val="FEF3D9"/>
          </a:solidFill>
          <a:ln w="25400">
            <a:solidFill>
              <a:srgbClr val="2659A5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368" y="5257800"/>
            <a:ext cx="502920" cy="5029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650328" y="50109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B2B (Gobeaute / Gocase)</a:t>
            </a:r>
            <a:endParaRPr lang="en-US" sz="1700" dirty="0"/>
          </a:p>
        </p:txBody>
      </p:sp>
      <p:sp>
        <p:nvSpPr>
          <p:cNvPr id="34" name="Text 28"/>
          <p:cNvSpPr/>
          <p:nvPr/>
        </p:nvSpPr>
        <p:spPr>
          <a:xfrm>
            <a:off x="7650328" y="541324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Consultoria para distribuidores: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F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tendência confirmada = sell-in maior.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2804008" y="6172200"/>
            <a:ext cx="6583680" cy="411480"/>
          </a:xfrm>
          <a:prstGeom prst="roundRect">
            <a:avLst>
              <a:gd name="adj" fmla="val 50000"/>
            </a:avLst>
          </a:prstGeom>
          <a:solidFill>
            <a:srgbClr val="2659A5"/>
          </a:solidFill>
          <a:ln w="12700">
            <a:solidFill>
              <a:srgbClr val="2659A5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2804008" y="61722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MARKETING + VENDAS + PRODUTO + OPERAÇÕES.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7D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3143"/>
            </a:avLst>
          </a:prstGeom>
          <a:solidFill>
            <a:srgbClr val="2659A5"/>
          </a:solidFill>
          <a:ln w="12700">
            <a:solidFill>
              <a:srgbClr val="2659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02920"/>
            <a:ext cx="164592" cy="164592"/>
          </a:xfrm>
          <a:prstGeom prst="ellipse">
            <a:avLst/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502920"/>
            <a:ext cx="164592" cy="164592"/>
          </a:xfrm>
          <a:prstGeom prst="ellipse">
            <a:avLst/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502920"/>
            <a:ext cx="164592" cy="164592"/>
          </a:xfrm>
          <a:prstGeom prst="ellipse">
            <a:avLst/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65615" y="4572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65615" y="4572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MÉTRICAS &amp; FECHAMENTO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0584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05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HOJE   →   COM GOTRENDS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4173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salto que a gente </a:t>
            </a:r>
            <a:pPr algn="l" indent="0" marL="0">
              <a:buNone/>
            </a:pPr>
            <a:r>
              <a:rPr lang="en-US" sz="3000" b="1" i="1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projeta.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MÉTRICA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06240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HOJE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06640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 GOTRENDS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875520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Δ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560320"/>
            <a:ext cx="10728655" cy="347472"/>
          </a:xfrm>
          <a:prstGeom prst="roundRect">
            <a:avLst>
              <a:gd name="adj" fmla="val 21053"/>
            </a:avLst>
          </a:prstGeom>
          <a:solidFill>
            <a:srgbClr val="1E4580"/>
          </a:solidFill>
          <a:ln w="12700">
            <a:solidFill>
              <a:srgbClr val="1E45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5603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CTR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06240" y="25603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~2,1%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75120" y="2560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06640" y="25603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2,8%+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058400" y="2615184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0" y="26151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+33%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29443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CPA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06240" y="29443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R$ 85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294436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06640" y="29443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R$ 55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058400" y="299923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0" y="29992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-35%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3328416"/>
            <a:ext cx="10728655" cy="347472"/>
          </a:xfrm>
          <a:prstGeom prst="roundRect">
            <a:avLst>
              <a:gd name="adj" fmla="val 21053"/>
            </a:avLst>
          </a:prstGeom>
          <a:solidFill>
            <a:srgbClr val="1E4580"/>
          </a:solidFill>
          <a:ln w="12700">
            <a:solidFill>
              <a:srgbClr val="1E45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332841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ROAS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206240" y="33284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3,2x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675120" y="332841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406640" y="33284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4,5x+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058400" y="338328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0" y="33832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+41%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" y="371246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Termos ativos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206240" y="37124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~100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675120" y="371246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406640" y="37124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1.000+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058400" y="3767328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58400" y="37673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10x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1520" y="4096512"/>
            <a:ext cx="10728655" cy="347472"/>
          </a:xfrm>
          <a:prstGeom prst="roundRect">
            <a:avLst>
              <a:gd name="adj" fmla="val 21053"/>
            </a:avLst>
          </a:prstGeom>
          <a:solidFill>
            <a:srgbClr val="1E4580"/>
          </a:solidFill>
          <a:ln w="12700">
            <a:solidFill>
              <a:srgbClr val="1E45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40965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Tempo de decisão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206240" y="40965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~8 horas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675120" y="409651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406640" y="40965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D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minutos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058400" y="4151376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58400" y="41513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-96%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31520" y="4526280"/>
            <a:ext cx="10728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Projeção baseada em benchmarks de marketing automation + baseline atual Kokeshi.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31520" y="5074920"/>
            <a:ext cx="10728655" cy="914400"/>
          </a:xfrm>
          <a:prstGeom prst="roundRect">
            <a:avLst>
              <a:gd name="adj" fmla="val 18000"/>
            </a:avLst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05840" y="512064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Dominar a intenção de busca </a:t>
            </a:r>
            <a:pPr algn="ctr" indent="0" marL="0">
              <a:buNone/>
            </a:pPr>
            <a:r>
              <a:rPr lang="en-US" sz="1700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 da concorrência transforma marketing em </a:t>
            </a:r>
            <a:pPr algn="ctr" indent="0" marL="0">
              <a:buNone/>
            </a:pPr>
            <a:r>
              <a:rPr lang="en-US" sz="1700" b="1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máquina de lucro e escala.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548640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acompanhe tendências. Antecipe-as.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11140135" y="6126480"/>
            <a:ext cx="502920" cy="502920"/>
          </a:xfrm>
          <a:prstGeom prst="ellipse">
            <a:avLst/>
          </a:prstGeom>
          <a:solidFill>
            <a:srgbClr val="D7D900"/>
          </a:solidFill>
          <a:ln w="12700">
            <a:solidFill>
              <a:srgbClr val="D7D9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140135" y="6126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659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GoTrends | Inteligência Preditiva para Ads</dc:title>
  <dc:subject>PptxGenJS Presentation</dc:subject>
  <dc:creator>Grupo 15 — GoHacks 2026</dc:creator>
  <cp:lastModifiedBy>Grupo 15 — GoHacks 2026</cp:lastModifiedBy>
  <cp:revision>1</cp:revision>
  <dcterms:created xsi:type="dcterms:W3CDTF">2026-04-24T23:23:05Z</dcterms:created>
  <dcterms:modified xsi:type="dcterms:W3CDTF">2026-04-24T23:23:05Z</dcterms:modified>
</cp:coreProperties>
</file>