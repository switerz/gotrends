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Pausa de 2 segundos. 'GoTrends — agente de IA para Google Ads. O piloto está rodando dentro da conta da Kokeshi.'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'Todo mês a nossa conta de Google Ads recebe cento e trinta e sete mil termos de busca.' Pausa. 'A análise existia. A inteligência de negócio dentro dela, não.'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atual. À esquerda o que se faz hoje, à direita o que sai dessa fila. Quatro horas por semana. Doze mil reais por mês de termos eficientes subinvestidos e desperdício, só na Kokeshi. Vezes sete marcas.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Solução. 'Não é dashboard. É decisão.' Cinco camadas — contexto, intenção, impacto, decisão, cruzamento orgânico. No rodapé: entra termo bruto, sai ação priorizada com impacto em reais e o porquê escrito do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Stack. Slide-prova de produto. Aponte: Google Ads e Search Console entram pelo MCP Server, viram contexto pra Claude com 12 frameworks, processam num pipeline de cinco etapas, e saem no Streamlit em tempo real. Aponte o QR: 'pode escanear agora — está no ar.' Segurança e OAuth são transversais. Zero execução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Diferencial. Slide-âncora. 'Antes de gastar. Não depois.' Lançamento marcado para 30 de abril, seis keywords prontas. Concorrente avisa o passado, GoTrends prepara 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Prova. Quatro números. Cento e trinta e sete mil termos. Doze mil reais em oportunidade. ROAS de vinte e um vírgula sete na branded. Menos de três segundos pra carregar. Cento e quatro mil reais de investimento gerenciado no mês — essa é a escala da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Escala. A Kokeshi é uma de sete. Trocar de marca é trocar um arquivo de contexto. Mesmo agente, mesma stack, mesmo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'O analista continua aqui. Agora com o contexto do negócio inteiro na mesa.' Pausa. 'Obrigado.'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2378869"/>
            <a:ext cx="2667000" cy="26670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0" y="2378869"/>
            <a:ext cx="2667000" cy="266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7514" y="5426869"/>
            <a:ext cx="683180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0" b="1" spc="-333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11100" b="1" spc="-333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Trends</a:t>
            </a:r>
            <a:endParaRPr lang="en-US" sz="11100" dirty="0"/>
          </a:p>
        </p:txBody>
      </p:sp>
      <p:sp>
        <p:nvSpPr>
          <p:cNvPr id="5" name="Text 2"/>
          <p:cNvSpPr/>
          <p:nvPr/>
        </p:nvSpPr>
        <p:spPr>
          <a:xfrm>
            <a:off x="7186017" y="7008019"/>
            <a:ext cx="40334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IA PARA GOOGLE ADS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59899" y="7549009"/>
            <a:ext cx="6168202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copiloto de mídia que </a:t>
            </a:r>
            <a:pPr algn="ctr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conhece o seu negócio</a:t>
            </a:r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-274320" y="9484072"/>
            <a:ext cx="1883664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spc="336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GOGROUP · PILOTO · KOKESHI / GOBEAUTE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52714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4979" y="457200"/>
            <a:ext cx="71482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21322"/>
            <a:ext cx="247709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MÊS, NA SUA CONTA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3371850"/>
            <a:ext cx="12078295" cy="3076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71850"/>
            <a:ext cx="12440644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8500" b="1" spc="-1140" kern="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137.242</a:t>
            </a:r>
            <a:endParaRPr lang="en-US" sz="28500" dirty="0"/>
          </a:p>
        </p:txBody>
      </p:sp>
      <p:sp>
        <p:nvSpPr>
          <p:cNvPr id="10" name="Text 8"/>
          <p:cNvSpPr/>
          <p:nvPr/>
        </p:nvSpPr>
        <p:spPr>
          <a:xfrm>
            <a:off x="914400" y="6677025"/>
            <a:ext cx="583479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de busca. </a:t>
            </a:r>
            <a:pPr algn="l" indent="0" marL="0">
              <a:lnSpc>
                <a:spcPct val="125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mês.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7558088"/>
            <a:ext cx="642159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análise existia. A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inteligência de negócio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dentro dela, não.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88773" y="8774013"/>
            <a:ext cx="7365727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143.747 PONTOS DE DADO · 110 CAMPANHAS · 6.505 TERMOS CRUZADOS PAGO × ORGÂNICO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17083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é hoje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2746" y="457200"/>
            <a:ext cx="71705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PROCESSO ATUAL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69678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custa </a:t>
            </a:r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horas </a:t>
            </a:r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ainda assim chega tarde.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902000"/>
            <a:ext cx="16952976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analista é bom. O processo não tem método.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662958"/>
            <a:ext cx="8077200" cy="3203525"/>
          </a:xfrm>
          <a:prstGeom prst="roundRect">
            <a:avLst>
              <a:gd name="adj" fmla="val 5352"/>
            </a:avLst>
          </a:prstGeom>
          <a:solidFill>
            <a:srgbClr val="161616"/>
          </a:solidFill>
          <a:ln w="9525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6825" y="4001542"/>
            <a:ext cx="23197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· PROCESSO MANUAL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3643759" y="3977283"/>
            <a:ext cx="873175" cy="247055"/>
          </a:xfrm>
          <a:prstGeom prst="roundRect">
            <a:avLst>
              <a:gd name="adj" fmla="val 50000"/>
            </a:avLst>
          </a:prstGeom>
          <a:solidFill>
            <a:srgbClr val="E74C3C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58059" y="4024908"/>
            <a:ext cx="72077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215" kern="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REATIVO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266825" y="4395788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250" y="440531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704975" y="4400550"/>
            <a:ext cx="20946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Acessa o Google Ads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66825" y="4776788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478631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704975" y="4781550"/>
            <a:ext cx="39557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Filtra termos de busca por CPA ou custo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66825" y="5157788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8250" y="516731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704975" y="5162550"/>
            <a:ext cx="41971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 com base em feeling e experiência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66825" y="5538788"/>
            <a:ext cx="285750" cy="285750"/>
          </a:xfrm>
          <a:prstGeom prst="ellipse">
            <a:avLst/>
          </a:prstGeom>
          <a:solidFill>
            <a:srgbClr val="E74C3C">
              <a:alpha val="15000"/>
            </a:srgbClr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8250" y="554831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704975" y="5543550"/>
            <a:ext cx="316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Talvez alguém execute na sexta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6825" y="6072188"/>
            <a:ext cx="7372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66825" y="6253163"/>
            <a:ext cx="1546473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0650" y="6319838"/>
            <a:ext cx="137502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método científico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46648" y="6253163"/>
            <a:ext cx="1461343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0473" y="6319838"/>
            <a:ext cx="128989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dados cruzados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41341" y="6253163"/>
            <a:ext cx="1711226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5166" y="6319838"/>
            <a:ext cx="153977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contexto de negócio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96400" y="3662958"/>
            <a:ext cx="8077200" cy="3203525"/>
          </a:xfrm>
          <a:prstGeom prst="roundRect">
            <a:avLst>
              <a:gd name="adj" fmla="val 5352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8825" y="3977283"/>
            <a:ext cx="759352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SAI DESSA FILA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9648825" y="4328220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0250" y="433774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0086975" y="4332982"/>
            <a:ext cx="4147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Decisão chega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o dinheiro saiu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648825" y="4709220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0250" y="471874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0086975" y="4713982"/>
            <a:ext cx="4772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Conhecimento mora na cabeça de uma pessoa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648825" y="5090220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20250" y="509974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0086975" y="5094982"/>
            <a:ext cx="56957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Lançamento sobe na sexta — keyword nasce na segunda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648825" y="5471220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20250" y="548074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0086975" y="5475982"/>
            <a:ext cx="39675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Mesmo erro repete na semana seguinte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648825" y="6004620"/>
            <a:ext cx="7372350" cy="9525"/>
          </a:xfrm>
          <a:prstGeom prst="rect">
            <a:avLst/>
          </a:prstGeom>
          <a:solidFill>
            <a:srgbClr val="D94B4B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648825" y="6185595"/>
            <a:ext cx="337535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isso roda em 7 marcas — em paralelo, em silos.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914400" y="7323683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7676108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– 4h</a:t>
            </a:r>
            <a:endParaRPr lang="en-US" sz="5400" dirty="0"/>
          </a:p>
        </p:txBody>
      </p:sp>
      <p:sp>
        <p:nvSpPr>
          <p:cNvPr id="51" name="Text 49"/>
          <p:cNvSpPr/>
          <p:nvPr/>
        </p:nvSpPr>
        <p:spPr>
          <a:xfrm>
            <a:off x="914400" y="8457158"/>
            <a:ext cx="533704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trabalho manual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semana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por marca.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53200" y="7676108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R$ 12.109</a:t>
            </a:r>
            <a:endParaRPr lang="en-US" sz="5400" dirty="0"/>
          </a:p>
        </p:txBody>
      </p:sp>
      <p:sp>
        <p:nvSpPr>
          <p:cNvPr id="53" name="Text 51"/>
          <p:cNvSpPr/>
          <p:nvPr/>
        </p:nvSpPr>
        <p:spPr>
          <a:xfrm>
            <a:off x="6553200" y="8457158"/>
            <a:ext cx="533704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eficientes subinvestidos + desperdício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identificados na Kokeshi · últimos 30 dias.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192000" y="7676108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 mi</a:t>
            </a:r>
            <a:endParaRPr lang="en-US" sz="5400" dirty="0"/>
          </a:p>
        </p:txBody>
      </p:sp>
      <p:sp>
        <p:nvSpPr>
          <p:cNvPr id="55" name="Text 53"/>
          <p:cNvSpPr/>
          <p:nvPr/>
        </p:nvSpPr>
        <p:spPr>
          <a:xfrm>
            <a:off x="12192000" y="8457158"/>
            <a:ext cx="533704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investimento mensal em Google Ads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grupo.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~R$ 2M Gocase · ~R$ 1M Gobeauté · mesmo processo manual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42330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84733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037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09671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725751" y="457200"/>
            <a:ext cx="72404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APRESENTANDO · GOTRENDS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31578"/>
            <a:ext cx="16952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dashboard. 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decisão.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2555528"/>
            <a:ext cx="1177290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camadas. Uma saída: ação priorizada com impacto em R$.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196655" y="4427637"/>
            <a:ext cx="9525" cy="1871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98328" y="4427637"/>
            <a:ext cx="914400" cy="914400"/>
          </a:xfrm>
          <a:prstGeom prst="ellipse">
            <a:avLst/>
          </a:prstGeom>
          <a:solidFill>
            <a:srgbClr val="D94B4B">
              <a:alpha val="8000"/>
            </a:srgbClr>
          </a:solidFill>
          <a:ln w="9525">
            <a:solidFill>
              <a:srgbClr val="D94B4B">
                <a:alpha val="45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978" y="4675287"/>
            <a:ext cx="419100" cy="419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62064" y="5551587"/>
            <a:ext cx="26297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986111" y="5940623"/>
            <a:ext cx="1215033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Contexto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7488436" y="4427637"/>
            <a:ext cx="9525" cy="1871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390108" y="4427637"/>
            <a:ext cx="914400" cy="914400"/>
          </a:xfrm>
          <a:prstGeom prst="ellipse">
            <a:avLst/>
          </a:prstGeom>
          <a:solidFill>
            <a:srgbClr val="D94B4B">
              <a:alpha val="8000"/>
            </a:srgbClr>
          </a:solidFill>
          <a:ln w="9525">
            <a:solidFill>
              <a:srgbClr val="D94B4B">
                <a:alpha val="45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758" y="4675287"/>
            <a:ext cx="419100" cy="4191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41789" y="5551587"/>
            <a:ext cx="28708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5292179" y="5940623"/>
            <a:ext cx="118645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Intenção</a:t>
            </a:r>
            <a:endParaRPr lang="en-US" sz="1950" dirty="0"/>
          </a:p>
        </p:txBody>
      </p:sp>
      <p:sp>
        <p:nvSpPr>
          <p:cNvPr id="20" name="Shape 16"/>
          <p:cNvSpPr/>
          <p:nvPr/>
        </p:nvSpPr>
        <p:spPr>
          <a:xfrm>
            <a:off x="10780365" y="4427637"/>
            <a:ext cx="9525" cy="1871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8681889" y="4427637"/>
            <a:ext cx="914400" cy="914400"/>
          </a:xfrm>
          <a:prstGeom prst="ellipse">
            <a:avLst/>
          </a:prstGeom>
          <a:solidFill>
            <a:srgbClr val="D94B4B">
              <a:alpha val="8000"/>
            </a:srgbClr>
          </a:solidFill>
          <a:ln w="9525">
            <a:solidFill>
              <a:srgbClr val="D94B4B">
                <a:alpha val="45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539" y="4675287"/>
            <a:ext cx="419100" cy="4191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31486" y="5551587"/>
            <a:ext cx="29140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8421737" y="5940623"/>
            <a:ext cx="1510903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Impacto R$</a:t>
            </a:r>
            <a:endParaRPr lang="en-US" sz="1950" dirty="0"/>
          </a:p>
        </p:txBody>
      </p:sp>
      <p:sp>
        <p:nvSpPr>
          <p:cNvPr id="25" name="Shape 20"/>
          <p:cNvSpPr/>
          <p:nvPr/>
        </p:nvSpPr>
        <p:spPr>
          <a:xfrm>
            <a:off x="14072146" y="4427637"/>
            <a:ext cx="9525" cy="1871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11973818" y="4427637"/>
            <a:ext cx="914400" cy="914400"/>
          </a:xfrm>
          <a:prstGeom prst="ellipse">
            <a:avLst/>
          </a:prstGeom>
          <a:solidFill>
            <a:srgbClr val="D94B4B">
              <a:alpha val="8000"/>
            </a:srgbClr>
          </a:solidFill>
          <a:ln w="9525">
            <a:solidFill>
              <a:srgbClr val="D94B4B">
                <a:alpha val="45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1468" y="4675287"/>
            <a:ext cx="419100" cy="4191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18950" y="5551587"/>
            <a:ext cx="30033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75" dirty="0"/>
          </a:p>
        </p:txBody>
      </p:sp>
      <p:sp>
        <p:nvSpPr>
          <p:cNvPr id="29" name="Text 23"/>
          <p:cNvSpPr/>
          <p:nvPr/>
        </p:nvSpPr>
        <p:spPr>
          <a:xfrm>
            <a:off x="11930658" y="5940623"/>
            <a:ext cx="107677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Decisão</a:t>
            </a:r>
            <a:endParaRPr lang="en-US" sz="1950" dirty="0"/>
          </a:p>
        </p:txBody>
      </p:sp>
      <p:sp>
        <p:nvSpPr>
          <p:cNvPr id="30" name="Shape 24"/>
          <p:cNvSpPr/>
          <p:nvPr/>
        </p:nvSpPr>
        <p:spPr>
          <a:xfrm>
            <a:off x="15270361" y="4427637"/>
            <a:ext cx="914400" cy="914400"/>
          </a:xfrm>
          <a:prstGeom prst="ellipse">
            <a:avLst/>
          </a:prstGeom>
          <a:solidFill>
            <a:srgbClr val="D94B4B">
              <a:alpha val="8000"/>
            </a:srgbClr>
          </a:solidFill>
          <a:ln w="9525">
            <a:solidFill>
              <a:srgbClr val="D94B4B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8011" y="4675287"/>
            <a:ext cx="419100" cy="4191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617279" y="5551587"/>
            <a:ext cx="29691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14687848" y="5940623"/>
            <a:ext cx="215577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spc="-1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Pago × Orgânico</a:t>
            </a:r>
            <a:endParaRPr lang="en-US" sz="1950" dirty="0"/>
          </a:p>
        </p:txBody>
      </p:sp>
      <p:sp>
        <p:nvSpPr>
          <p:cNvPr id="34" name="Shape 27"/>
          <p:cNvSpPr/>
          <p:nvPr/>
        </p:nvSpPr>
        <p:spPr>
          <a:xfrm>
            <a:off x="914400" y="8674150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171575" y="8899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825" y="8994725"/>
            <a:ext cx="209550" cy="2095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743075" y="8893225"/>
            <a:ext cx="2000994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1743075" y="9083129"/>
            <a:ext cx="200099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 de busca bruto</a:t>
            </a:r>
            <a:endParaRPr lang="en-US" sz="1350" dirty="0"/>
          </a:p>
        </p:txBody>
      </p:sp>
      <p:sp>
        <p:nvSpPr>
          <p:cNvPr id="39" name="Shape 31"/>
          <p:cNvSpPr/>
          <p:nvPr/>
        </p:nvSpPr>
        <p:spPr>
          <a:xfrm>
            <a:off x="6477000" y="8674150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734175" y="8899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8994725"/>
            <a:ext cx="209550" cy="2095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05675" y="8893225"/>
            <a:ext cx="201275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825" dirty="0"/>
          </a:p>
        </p:txBody>
      </p:sp>
      <p:sp>
        <p:nvSpPr>
          <p:cNvPr id="43" name="Text 34"/>
          <p:cNvSpPr/>
          <p:nvPr/>
        </p:nvSpPr>
        <p:spPr>
          <a:xfrm>
            <a:off x="7305675" y="9083129"/>
            <a:ext cx="201275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camadas de análise</a:t>
            </a:r>
            <a:endParaRPr lang="en-US" sz="1350" dirty="0"/>
          </a:p>
        </p:txBody>
      </p:sp>
      <p:sp>
        <p:nvSpPr>
          <p:cNvPr id="44" name="Shape 35"/>
          <p:cNvSpPr/>
          <p:nvPr/>
        </p:nvSpPr>
        <p:spPr>
          <a:xfrm>
            <a:off x="12039600" y="8674150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D94B4B">
              <a:alpha val="10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2296775" y="8899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2025" y="8994725"/>
            <a:ext cx="209550" cy="2095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2868275" y="8893225"/>
            <a:ext cx="256773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SAÍDA</a:t>
            </a:r>
            <a:endParaRPr lang="en-US" sz="825" dirty="0"/>
          </a:p>
        </p:txBody>
      </p:sp>
      <p:sp>
        <p:nvSpPr>
          <p:cNvPr id="48" name="Text 38"/>
          <p:cNvSpPr/>
          <p:nvPr/>
        </p:nvSpPr>
        <p:spPr>
          <a:xfrm>
            <a:off x="12868275" y="9083129"/>
            <a:ext cx="256773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Ação priorizada · R$ · porquê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79605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foi construído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26793" y="457200"/>
            <a:ext cx="723007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079182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FLUXO DO PIPELINE · GOTRENDS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374428"/>
            <a:ext cx="1079182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Construído do zero.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7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Rodando em produção.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669828"/>
            <a:ext cx="1079182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etapas. Tecnologias estado-da-arte. Segurança transversal.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Aponte a câmera no QR — está no ar agora.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089821"/>
            <a:ext cx="104090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137.242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74354" y="3242221"/>
            <a:ext cx="188282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PROCESSADOS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23879" y="3089821"/>
            <a:ext cx="58995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3s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32883" y="3242221"/>
            <a:ext cx="107290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ANÁLISE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72485" y="3089821"/>
            <a:ext cx="24035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31893" y="3242221"/>
            <a:ext cx="318251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NOVAS KEYWORDS DESCOBERTAS / MÊS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3844885" y="2047726"/>
            <a:ext cx="3528715" cy="1428750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25860" y="2190601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5860" y="2190601"/>
            <a:ext cx="1143000" cy="1143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340310" y="2445990"/>
            <a:ext cx="192851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ME · AO VIVO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5340310" y="2654945"/>
            <a:ext cx="192851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GoTrends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5340310" y="2898725"/>
            <a:ext cx="192851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· acesso por OAuth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914400" y="3781276"/>
            <a:ext cx="3185071" cy="329178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37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24" name="Text 21"/>
          <p:cNvSpPr/>
          <p:nvPr/>
        </p:nvSpPr>
        <p:spPr>
          <a:xfrm>
            <a:off x="105727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3347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FONTES DE DADOS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3347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Ads</a:t>
            </a:r>
            <a:endParaRPr lang="en-US" sz="157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4972199"/>
            <a:ext cx="2632621" cy="1052959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133475" y="641895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1133475" y="6561832"/>
            <a:ext cx="1107132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38250" y="6618982"/>
            <a:ext cx="973782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Ads API</a:t>
            </a:r>
            <a:endParaRPr lang="en-US" sz="863" dirty="0"/>
          </a:p>
        </p:txBody>
      </p:sp>
      <p:sp>
        <p:nvSpPr>
          <p:cNvPr id="31" name="Shape 27"/>
          <p:cNvSpPr/>
          <p:nvPr/>
        </p:nvSpPr>
        <p:spPr>
          <a:xfrm>
            <a:off x="2297757" y="6561832"/>
            <a:ext cx="1361331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402532" y="6618982"/>
            <a:ext cx="122798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Console API</a:t>
            </a:r>
            <a:endParaRPr lang="en-US" sz="863" dirty="0"/>
          </a:p>
        </p:txBody>
      </p:sp>
      <p:sp>
        <p:nvSpPr>
          <p:cNvPr id="33" name="Shape 29"/>
          <p:cNvSpPr/>
          <p:nvPr/>
        </p:nvSpPr>
        <p:spPr>
          <a:xfrm>
            <a:off x="4232821" y="3781276"/>
            <a:ext cx="3185220" cy="329178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413796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5" name="Text 31"/>
          <p:cNvSpPr/>
          <p:nvPr/>
        </p:nvSpPr>
        <p:spPr>
          <a:xfrm>
            <a:off x="4375696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451896" y="4095601"/>
            <a:ext cx="282948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MCP SERVER</a:t>
            </a:r>
            <a:endParaRPr lang="en-US" sz="825" dirty="0"/>
          </a:p>
        </p:txBody>
      </p:sp>
      <p:sp>
        <p:nvSpPr>
          <p:cNvPr id="37" name="Text 33"/>
          <p:cNvSpPr/>
          <p:nvPr/>
        </p:nvSpPr>
        <p:spPr>
          <a:xfrm>
            <a:off x="4451896" y="4342656"/>
            <a:ext cx="2829482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Context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Protocol</a:t>
            </a:r>
            <a:endParaRPr lang="en-US" sz="1575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046" y="4972199"/>
            <a:ext cx="2632770" cy="1053108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451896" y="6418957"/>
            <a:ext cx="274707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4451896" y="6561832"/>
            <a:ext cx="1596330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556671" y="6618982"/>
            <a:ext cx="1462980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Context Protocol</a:t>
            </a:r>
            <a:endParaRPr lang="en-US" sz="863" dirty="0"/>
          </a:p>
        </p:txBody>
      </p:sp>
      <p:sp>
        <p:nvSpPr>
          <p:cNvPr id="42" name="Shape 37"/>
          <p:cNvSpPr/>
          <p:nvPr/>
        </p:nvSpPr>
        <p:spPr>
          <a:xfrm>
            <a:off x="6105376" y="6561832"/>
            <a:ext cx="788938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10151" y="6618982"/>
            <a:ext cx="655588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2.0</a:t>
            </a:r>
            <a:endParaRPr lang="en-US" sz="863" dirty="0"/>
          </a:p>
        </p:txBody>
      </p:sp>
      <p:sp>
        <p:nvSpPr>
          <p:cNvPr id="44" name="Shape 39"/>
          <p:cNvSpPr/>
          <p:nvPr/>
        </p:nvSpPr>
        <p:spPr>
          <a:xfrm>
            <a:off x="7551390" y="3781276"/>
            <a:ext cx="3185071" cy="3291780"/>
          </a:xfrm>
          <a:prstGeom prst="roundRect">
            <a:avLst>
              <a:gd name="adj" fmla="val 4785"/>
            </a:avLst>
          </a:prstGeom>
          <a:solidFill>
            <a:srgbClr val="D94B4B">
              <a:alpha val="10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73236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46" name="Text 41"/>
          <p:cNvSpPr/>
          <p:nvPr/>
        </p:nvSpPr>
        <p:spPr>
          <a:xfrm>
            <a:off x="769426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777046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GOTRENDS</a:t>
            </a:r>
            <a:endParaRPr lang="en-US" sz="825" dirty="0"/>
          </a:p>
        </p:txBody>
      </p:sp>
      <p:sp>
        <p:nvSpPr>
          <p:cNvPr id="48" name="Text 43"/>
          <p:cNvSpPr/>
          <p:nvPr/>
        </p:nvSpPr>
        <p:spPr>
          <a:xfrm>
            <a:off x="777046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·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Anthropic</a:t>
            </a:r>
            <a:endParaRPr lang="en-US" sz="1575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615" y="4807148"/>
            <a:ext cx="2632621" cy="1052959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7770465" y="608870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7770465" y="6231582"/>
            <a:ext cx="1323826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875240" y="6288732"/>
            <a:ext cx="1190476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· Anthropic</a:t>
            </a:r>
            <a:endParaRPr lang="en-US" sz="863" dirty="0"/>
          </a:p>
        </p:txBody>
      </p:sp>
      <p:sp>
        <p:nvSpPr>
          <p:cNvPr id="53" name="Shape 47"/>
          <p:cNvSpPr/>
          <p:nvPr/>
        </p:nvSpPr>
        <p:spPr>
          <a:xfrm>
            <a:off x="7770465" y="6561832"/>
            <a:ext cx="1475929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875240" y="6618982"/>
            <a:ext cx="1342579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Frameworks autorais</a:t>
            </a:r>
            <a:endParaRPr lang="en-US" sz="863" dirty="0"/>
          </a:p>
        </p:txBody>
      </p:sp>
      <p:sp>
        <p:nvSpPr>
          <p:cNvPr id="55" name="Shape 49"/>
          <p:cNvSpPr/>
          <p:nvPr/>
        </p:nvSpPr>
        <p:spPr>
          <a:xfrm>
            <a:off x="10869811" y="3781276"/>
            <a:ext cx="3185220" cy="329178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1050786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57" name="Text 51"/>
          <p:cNvSpPr/>
          <p:nvPr/>
        </p:nvSpPr>
        <p:spPr>
          <a:xfrm>
            <a:off x="11012686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2"/>
          <p:cNvSpPr/>
          <p:nvPr/>
        </p:nvSpPr>
        <p:spPr>
          <a:xfrm>
            <a:off x="11088886" y="4095601"/>
            <a:ext cx="282948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 DE ANÁLISE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11088886" y="4342656"/>
            <a:ext cx="2829482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575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036" y="4972199"/>
            <a:ext cx="2632770" cy="1053108"/>
          </a:xfrm>
          <a:prstGeom prst="rect">
            <a:avLst/>
          </a:prstGeom>
        </p:spPr>
      </p:pic>
      <p:sp>
        <p:nvSpPr>
          <p:cNvPr id="61" name="Shape 54"/>
          <p:cNvSpPr/>
          <p:nvPr/>
        </p:nvSpPr>
        <p:spPr>
          <a:xfrm>
            <a:off x="11088886" y="6418957"/>
            <a:ext cx="274707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Shape 55"/>
          <p:cNvSpPr/>
          <p:nvPr/>
        </p:nvSpPr>
        <p:spPr>
          <a:xfrm>
            <a:off x="11088886" y="6561832"/>
            <a:ext cx="625971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11193661" y="6618982"/>
            <a:ext cx="49262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863" dirty="0"/>
          </a:p>
        </p:txBody>
      </p:sp>
      <p:sp>
        <p:nvSpPr>
          <p:cNvPr id="64" name="Shape 57"/>
          <p:cNvSpPr/>
          <p:nvPr/>
        </p:nvSpPr>
        <p:spPr>
          <a:xfrm>
            <a:off x="11772007" y="6561832"/>
            <a:ext cx="657374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11876782" y="6618982"/>
            <a:ext cx="524024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863" dirty="0"/>
          </a:p>
        </p:txBody>
      </p:sp>
      <p:sp>
        <p:nvSpPr>
          <p:cNvPr id="66" name="Shape 59"/>
          <p:cNvSpPr/>
          <p:nvPr/>
        </p:nvSpPr>
        <p:spPr>
          <a:xfrm>
            <a:off x="12486531" y="6561832"/>
            <a:ext cx="542032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12591306" y="6618982"/>
            <a:ext cx="408682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Plotly</a:t>
            </a:r>
            <a:endParaRPr lang="en-US" sz="863" dirty="0"/>
          </a:p>
        </p:txBody>
      </p:sp>
      <p:sp>
        <p:nvSpPr>
          <p:cNvPr id="68" name="Shape 61"/>
          <p:cNvSpPr/>
          <p:nvPr/>
        </p:nvSpPr>
        <p:spPr>
          <a:xfrm>
            <a:off x="14188380" y="3781276"/>
            <a:ext cx="3185071" cy="3291780"/>
          </a:xfrm>
          <a:prstGeom prst="roundRect">
            <a:avLst>
              <a:gd name="adj" fmla="val 4785"/>
            </a:avLst>
          </a:prstGeom>
          <a:solidFill>
            <a:srgbClr val="B7E2DC">
              <a:alpha val="6000"/>
            </a:srgbClr>
          </a:solidFill>
          <a:ln w="9525">
            <a:solidFill>
              <a:srgbClr val="B7E2DC">
                <a:alpha val="2500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436935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70" name="Text 63"/>
          <p:cNvSpPr/>
          <p:nvPr/>
        </p:nvSpPr>
        <p:spPr>
          <a:xfrm>
            <a:off x="1433125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50" dirty="0"/>
          </a:p>
        </p:txBody>
      </p:sp>
      <p:sp>
        <p:nvSpPr>
          <p:cNvPr id="71" name="Text 64"/>
          <p:cNvSpPr/>
          <p:nvPr/>
        </p:nvSpPr>
        <p:spPr>
          <a:xfrm>
            <a:off x="1440745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STREAMLIT</a:t>
            </a:r>
            <a:endParaRPr lang="en-US" sz="825" dirty="0"/>
          </a:p>
        </p:txBody>
      </p:sp>
      <p:sp>
        <p:nvSpPr>
          <p:cNvPr id="72" name="Text 65"/>
          <p:cNvSpPr/>
          <p:nvPr/>
        </p:nvSpPr>
        <p:spPr>
          <a:xfrm>
            <a:off x="1440745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</a:t>
            </a:r>
            <a:endParaRPr lang="en-US" sz="1575" dirty="0"/>
          </a:p>
        </p:txBody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4605" y="4972199"/>
            <a:ext cx="2632621" cy="1052959"/>
          </a:xfrm>
          <a:prstGeom prst="rect">
            <a:avLst/>
          </a:prstGeom>
        </p:spPr>
      </p:pic>
      <p:sp>
        <p:nvSpPr>
          <p:cNvPr id="74" name="Shape 66"/>
          <p:cNvSpPr/>
          <p:nvPr/>
        </p:nvSpPr>
        <p:spPr>
          <a:xfrm>
            <a:off x="14407455" y="641895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5" name="Shape 67"/>
          <p:cNvSpPr/>
          <p:nvPr/>
        </p:nvSpPr>
        <p:spPr>
          <a:xfrm>
            <a:off x="14407455" y="6561832"/>
            <a:ext cx="1146125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14512230" y="6618982"/>
            <a:ext cx="1012775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Cloud</a:t>
            </a:r>
            <a:endParaRPr lang="en-US" sz="863" dirty="0"/>
          </a:p>
        </p:txBody>
      </p:sp>
      <p:sp>
        <p:nvSpPr>
          <p:cNvPr id="77" name="Shape 69"/>
          <p:cNvSpPr/>
          <p:nvPr/>
        </p:nvSpPr>
        <p:spPr>
          <a:xfrm>
            <a:off x="15610731" y="6561832"/>
            <a:ext cx="747415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15715506" y="6618982"/>
            <a:ext cx="614065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App</a:t>
            </a:r>
            <a:endParaRPr lang="en-US" sz="863" dirty="0"/>
          </a:p>
        </p:txBody>
      </p:sp>
      <p:sp>
        <p:nvSpPr>
          <p:cNvPr id="79" name="Shape 71"/>
          <p:cNvSpPr/>
          <p:nvPr/>
        </p:nvSpPr>
        <p:spPr>
          <a:xfrm>
            <a:off x="914400" y="7301657"/>
            <a:ext cx="16459200" cy="579537"/>
          </a:xfrm>
          <a:prstGeom prst="roundRect">
            <a:avLst>
              <a:gd name="adj" fmla="val 23010"/>
            </a:avLst>
          </a:prstGeom>
          <a:solidFill>
            <a:srgbClr val="D94B4B">
              <a:alpha val="4000"/>
            </a:srgbClr>
          </a:solidFill>
          <a:ln w="9525">
            <a:solidFill>
              <a:srgbClr val="D94B4B">
                <a:alpha val="40000"/>
              </a:srgbClr>
            </a:solidFill>
            <a:prstDash val="dash"/>
          </a:ln>
        </p:spPr>
      </p:sp>
      <p:sp>
        <p:nvSpPr>
          <p:cNvPr id="80" name="Shape 72"/>
          <p:cNvSpPr/>
          <p:nvPr/>
        </p:nvSpPr>
        <p:spPr>
          <a:xfrm>
            <a:off x="1133475" y="7458373"/>
            <a:ext cx="1179909" cy="266105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/>
        </p:spPr>
      </p:sp>
      <p:sp>
        <p:nvSpPr>
          <p:cNvPr id="81" name="Text 73"/>
          <p:cNvSpPr/>
          <p:nvPr/>
        </p:nvSpPr>
        <p:spPr>
          <a:xfrm>
            <a:off x="1247775" y="7515523"/>
            <a:ext cx="102750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TRANSVERSAL</a:t>
            </a:r>
            <a:endParaRPr lang="en-US" sz="825" dirty="0"/>
          </a:p>
        </p:txBody>
      </p:sp>
      <p:sp>
        <p:nvSpPr>
          <p:cNvPr id="82" name="Text 74"/>
          <p:cNvSpPr/>
          <p:nvPr/>
        </p:nvSpPr>
        <p:spPr>
          <a:xfrm>
            <a:off x="2465784" y="7494687"/>
            <a:ext cx="190976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Autenticação &amp; Segurança</a:t>
            </a:r>
            <a:endParaRPr lang="en-US" sz="1050" dirty="0"/>
          </a:p>
        </p:txBody>
      </p:sp>
      <p:sp>
        <p:nvSpPr>
          <p:cNvPr id="83" name="Shape 75"/>
          <p:cNvSpPr/>
          <p:nvPr/>
        </p:nvSpPr>
        <p:spPr>
          <a:xfrm>
            <a:off x="4508897" y="7444532"/>
            <a:ext cx="1412379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4623197" y="7501682"/>
            <a:ext cx="125997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2.0 (Google)</a:t>
            </a:r>
            <a:endParaRPr lang="en-US" sz="975" dirty="0"/>
          </a:p>
        </p:txBody>
      </p:sp>
      <p:sp>
        <p:nvSpPr>
          <p:cNvPr id="85" name="Shape 77"/>
          <p:cNvSpPr/>
          <p:nvPr/>
        </p:nvSpPr>
        <p:spPr>
          <a:xfrm>
            <a:off x="5997476" y="7444532"/>
            <a:ext cx="3613398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6111776" y="7501682"/>
            <a:ext cx="349320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por domínio · @gocase.com / @gobeaute.com</a:t>
            </a:r>
            <a:endParaRPr lang="en-US" sz="975" dirty="0"/>
          </a:p>
        </p:txBody>
      </p:sp>
      <p:sp>
        <p:nvSpPr>
          <p:cNvPr id="87" name="Shape 79"/>
          <p:cNvSpPr/>
          <p:nvPr/>
        </p:nvSpPr>
        <p:spPr>
          <a:xfrm>
            <a:off x="9687074" y="7444532"/>
            <a:ext cx="1229171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8" name="Text 80"/>
          <p:cNvSpPr/>
          <p:nvPr/>
        </p:nvSpPr>
        <p:spPr>
          <a:xfrm>
            <a:off x="9801374" y="7501682"/>
            <a:ext cx="107677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&amp; auditoria</a:t>
            </a:r>
            <a:endParaRPr lang="en-US" sz="975" dirty="0"/>
          </a:p>
        </p:txBody>
      </p:sp>
      <p:sp>
        <p:nvSpPr>
          <p:cNvPr id="89" name="Shape 81"/>
          <p:cNvSpPr/>
          <p:nvPr/>
        </p:nvSpPr>
        <p:spPr>
          <a:xfrm>
            <a:off x="10992445" y="7444532"/>
            <a:ext cx="1605409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0" name="Text 82"/>
          <p:cNvSpPr/>
          <p:nvPr/>
        </p:nvSpPr>
        <p:spPr>
          <a:xfrm>
            <a:off x="11106745" y="7501682"/>
            <a:ext cx="145300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não persistidos</a:t>
            </a:r>
            <a:endParaRPr lang="en-US" sz="975" dirty="0"/>
          </a:p>
        </p:txBody>
      </p:sp>
      <p:sp>
        <p:nvSpPr>
          <p:cNvPr id="91" name="Shape 83"/>
          <p:cNvSpPr/>
          <p:nvPr/>
        </p:nvSpPr>
        <p:spPr>
          <a:xfrm>
            <a:off x="12674054" y="7444532"/>
            <a:ext cx="1205359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2" name="Text 84"/>
          <p:cNvSpPr/>
          <p:nvPr/>
        </p:nvSpPr>
        <p:spPr>
          <a:xfrm>
            <a:off x="12788354" y="7501682"/>
            <a:ext cx="105295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LGPD compliant</a:t>
            </a:r>
            <a:endParaRPr lang="en-US" sz="975" dirty="0"/>
          </a:p>
        </p:txBody>
      </p:sp>
      <p:sp>
        <p:nvSpPr>
          <p:cNvPr id="93" name="Shape 85"/>
          <p:cNvSpPr/>
          <p:nvPr/>
        </p:nvSpPr>
        <p:spPr>
          <a:xfrm>
            <a:off x="13955613" y="7444532"/>
            <a:ext cx="2024658" cy="293787"/>
          </a:xfrm>
          <a:prstGeom prst="roundRect">
            <a:avLst>
              <a:gd name="adj" fmla="val 50000"/>
            </a:avLst>
          </a:prstGeom>
          <a:solidFill>
            <a:srgbClr val="2ECC71">
              <a:alpha val="10000"/>
            </a:srgbClr>
          </a:solidFill>
          <a:ln w="9525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94" name="Text 86"/>
          <p:cNvSpPr/>
          <p:nvPr/>
        </p:nvSpPr>
        <p:spPr>
          <a:xfrm>
            <a:off x="14069913" y="7501682"/>
            <a:ext cx="187225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execuções automáticas</a:t>
            </a:r>
            <a:endParaRPr lang="en-US" sz="975" dirty="0"/>
          </a:p>
        </p:txBody>
      </p:sp>
      <p:sp>
        <p:nvSpPr>
          <p:cNvPr id="95" name="Shape 87"/>
          <p:cNvSpPr/>
          <p:nvPr/>
        </p:nvSpPr>
        <p:spPr>
          <a:xfrm>
            <a:off x="914400" y="8052643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6" name="Text 88"/>
          <p:cNvSpPr/>
          <p:nvPr/>
        </p:nvSpPr>
        <p:spPr>
          <a:xfrm>
            <a:off x="914400" y="8276034"/>
            <a:ext cx="54798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</a:t>
            </a:r>
            <a:endParaRPr lang="en-US" sz="825" dirty="0"/>
          </a:p>
        </p:txBody>
      </p:sp>
      <p:sp>
        <p:nvSpPr>
          <p:cNvPr id="97" name="Shape 89"/>
          <p:cNvSpPr/>
          <p:nvPr/>
        </p:nvSpPr>
        <p:spPr>
          <a:xfrm>
            <a:off x="1576685" y="8195518"/>
            <a:ext cx="1226046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1719560" y="8262193"/>
            <a:ext cx="101649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Ads API</a:t>
            </a:r>
            <a:endParaRPr lang="en-US" sz="975" dirty="0"/>
          </a:p>
        </p:txBody>
      </p:sp>
      <p:sp>
        <p:nvSpPr>
          <p:cNvPr id="99" name="Shape 91"/>
          <p:cNvSpPr/>
          <p:nvPr/>
        </p:nvSpPr>
        <p:spPr>
          <a:xfrm>
            <a:off x="2936081" y="8195518"/>
            <a:ext cx="148947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0" name="Text 92"/>
          <p:cNvSpPr/>
          <p:nvPr/>
        </p:nvSpPr>
        <p:spPr>
          <a:xfrm>
            <a:off x="3078956" y="8262193"/>
            <a:ext cx="127992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Console API</a:t>
            </a:r>
            <a:endParaRPr lang="en-US" sz="975" dirty="0"/>
          </a:p>
        </p:txBody>
      </p:sp>
      <p:sp>
        <p:nvSpPr>
          <p:cNvPr id="101" name="Shape 93"/>
          <p:cNvSpPr/>
          <p:nvPr/>
        </p:nvSpPr>
        <p:spPr>
          <a:xfrm>
            <a:off x="4558903" y="8195518"/>
            <a:ext cx="564356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2" name="Text 94"/>
          <p:cNvSpPr/>
          <p:nvPr/>
        </p:nvSpPr>
        <p:spPr>
          <a:xfrm>
            <a:off x="4701778" y="8262193"/>
            <a:ext cx="35480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MCP</a:t>
            </a:r>
            <a:endParaRPr lang="en-US" sz="975" dirty="0"/>
          </a:p>
        </p:txBody>
      </p:sp>
      <p:sp>
        <p:nvSpPr>
          <p:cNvPr id="103" name="Shape 95"/>
          <p:cNvSpPr/>
          <p:nvPr/>
        </p:nvSpPr>
        <p:spPr>
          <a:xfrm>
            <a:off x="5256609" y="8195518"/>
            <a:ext cx="150346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5399484" y="8262193"/>
            <a:ext cx="129391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(Anthropic)</a:t>
            </a:r>
            <a:endParaRPr lang="en-US" sz="975" dirty="0"/>
          </a:p>
        </p:txBody>
      </p:sp>
      <p:sp>
        <p:nvSpPr>
          <p:cNvPr id="105" name="Shape 97"/>
          <p:cNvSpPr/>
          <p:nvPr/>
        </p:nvSpPr>
        <p:spPr>
          <a:xfrm>
            <a:off x="6893421" y="8195518"/>
            <a:ext cx="854720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6" name="Text 98"/>
          <p:cNvSpPr/>
          <p:nvPr/>
        </p:nvSpPr>
        <p:spPr>
          <a:xfrm>
            <a:off x="7036296" y="8262193"/>
            <a:ext cx="64517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</a:t>
            </a:r>
            <a:endParaRPr lang="en-US" sz="975" dirty="0"/>
          </a:p>
        </p:txBody>
      </p:sp>
      <p:sp>
        <p:nvSpPr>
          <p:cNvPr id="107" name="Shape 99"/>
          <p:cNvSpPr/>
          <p:nvPr/>
        </p:nvSpPr>
        <p:spPr>
          <a:xfrm>
            <a:off x="7881491" y="8195518"/>
            <a:ext cx="71735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8" name="Text 100"/>
          <p:cNvSpPr/>
          <p:nvPr/>
        </p:nvSpPr>
        <p:spPr>
          <a:xfrm>
            <a:off x="8024366" y="8262193"/>
            <a:ext cx="50780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975" dirty="0"/>
          </a:p>
        </p:txBody>
      </p:sp>
      <p:sp>
        <p:nvSpPr>
          <p:cNvPr id="109" name="Shape 101"/>
          <p:cNvSpPr/>
          <p:nvPr/>
        </p:nvSpPr>
        <p:spPr>
          <a:xfrm>
            <a:off x="8732193" y="8195518"/>
            <a:ext cx="757833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0" name="Text 102"/>
          <p:cNvSpPr/>
          <p:nvPr/>
        </p:nvSpPr>
        <p:spPr>
          <a:xfrm>
            <a:off x="8875068" y="8262193"/>
            <a:ext cx="54828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975" dirty="0"/>
          </a:p>
        </p:txBody>
      </p:sp>
      <p:sp>
        <p:nvSpPr>
          <p:cNvPr id="111" name="Shape 103"/>
          <p:cNvSpPr/>
          <p:nvPr/>
        </p:nvSpPr>
        <p:spPr>
          <a:xfrm>
            <a:off x="9623375" y="8195518"/>
            <a:ext cx="621953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2" name="Text 104"/>
          <p:cNvSpPr/>
          <p:nvPr/>
        </p:nvSpPr>
        <p:spPr>
          <a:xfrm>
            <a:off x="9766250" y="8262193"/>
            <a:ext cx="41240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Plotly</a:t>
            </a:r>
            <a:endParaRPr lang="en-US" sz="975" dirty="0"/>
          </a:p>
        </p:txBody>
      </p:sp>
      <p:sp>
        <p:nvSpPr>
          <p:cNvPr id="113" name="Shape 105"/>
          <p:cNvSpPr/>
          <p:nvPr/>
        </p:nvSpPr>
        <p:spPr>
          <a:xfrm>
            <a:off x="10378678" y="8195518"/>
            <a:ext cx="88880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4" name="Text 106"/>
          <p:cNvSpPr/>
          <p:nvPr/>
        </p:nvSpPr>
        <p:spPr>
          <a:xfrm>
            <a:off x="10521553" y="8262193"/>
            <a:ext cx="67925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2.0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55315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797719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199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510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diferencial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726346" y="457200"/>
            <a:ext cx="72345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NINGUÉM MAIS FAZ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69678"/>
            <a:ext cx="16952976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gastar. </a:t>
            </a:r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depois.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914400" y="2784128"/>
            <a:ext cx="107918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ferramentas atuais avisam quando o dinheiro já foi embora. GoTrends prepara a ação 45 dias antes.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033689"/>
            <a:ext cx="9334500" cy="4997351"/>
          </a:xfrm>
          <a:prstGeom prst="roundRect">
            <a:avLst>
              <a:gd name="adj" fmla="val 4574"/>
            </a:avLst>
          </a:prstGeom>
          <a:solidFill>
            <a:srgbClr val="1A1A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4925" y="4500414"/>
            <a:ext cx="293280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 LANÇAMENTO · KOKESHI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663434" y="4424214"/>
            <a:ext cx="1194941" cy="331887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808535" y="4544758"/>
            <a:ext cx="90798" cy="90798"/>
          </a:xfrm>
          <a:prstGeom prst="ellipse">
            <a:avLst/>
          </a:prstGeom>
          <a:solidFill>
            <a:srgbClr val="FFFFFF">
              <a:alpha val="71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87284" y="4490889"/>
            <a:ext cx="7948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URGENTE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304925" y="4870400"/>
            <a:ext cx="8810054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Sérum Roll-on Adeus Olheiras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304925" y="5366593"/>
            <a:ext cx="881005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Lançamento · 28 de abril de 2026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04925" y="7283797"/>
            <a:ext cx="8553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04925" y="5919936"/>
            <a:ext cx="8553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04925" y="6158061"/>
            <a:ext cx="21590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abr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3540175" y="6558111"/>
            <a:ext cx="450758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campanha sugerida pronta para revisão · keywords pré-montadas, aguardando aprovação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04925" y="7521922"/>
            <a:ext cx="881005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KEYWORDS PRÉ-MONTADAS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304925" y="7834759"/>
            <a:ext cx="190008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7800" y="7920484"/>
            <a:ext cx="169053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comprar adeus olheiras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81214" y="7834759"/>
            <a:ext cx="183013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4089" y="7920484"/>
            <a:ext cx="162058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sérum olheiras kokeshi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87553" y="7834759"/>
            <a:ext cx="1627733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428" y="7920484"/>
            <a:ext cx="141818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 on para olheiras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91486" y="7834759"/>
            <a:ext cx="2361754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4361" y="7920484"/>
            <a:ext cx="215220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tratamento olheiras profundas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04925" y="8275737"/>
            <a:ext cx="165615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7800" y="8361462"/>
            <a:ext cx="144660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kokeshi sérum olhos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37284" y="8275737"/>
            <a:ext cx="203596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0159" y="8361462"/>
            <a:ext cx="182641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adeus olheiras como usar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706100" y="4033689"/>
            <a:ext cx="6667500" cy="1186607"/>
          </a:xfrm>
          <a:prstGeom prst="roundRect">
            <a:avLst>
              <a:gd name="adj" fmla="val 16054"/>
            </a:avLst>
          </a:prstGeom>
          <a:solidFill>
            <a:srgbClr val="1A1A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20425" y="4348014"/>
            <a:ext cx="622001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98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CONCORRENTES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20425" y="4608909"/>
            <a:ext cx="62200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“Seu CPA aumentou 40% na semana passada.”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606088" y="5448895"/>
            <a:ext cx="686752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A DIFERENÇA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706100" y="5926038"/>
            <a:ext cx="6667500" cy="1483668"/>
          </a:xfrm>
          <a:prstGeom prst="roundRect">
            <a:avLst>
              <a:gd name="adj" fmla="val 12840"/>
            </a:avLst>
          </a:prstGeom>
          <a:solidFill>
            <a:srgbClr val="2ECC71">
              <a:alpha val="7000"/>
            </a:srgbClr>
          </a:solidFill>
          <a:ln w="9525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20425" y="6240363"/>
            <a:ext cx="622001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98" kern="0" dirty="0">
                <a:solidFill>
                  <a:srgbClr val="2ECC7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20425" y="6501259"/>
            <a:ext cx="62200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"Faltam 3 dias. Estas 6 keywords precisam estar no ar segunda-feira."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73922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prova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7360" y="457200"/>
            <a:ext cx="71244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99060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IDEIA. JÁ ESTÁ RODANDO.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317278"/>
            <a:ext cx="16952976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050" b="1" spc="-61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uma conta real. </a:t>
            </a:r>
            <a:pPr algn="l" indent="0" marL="0">
              <a:lnSpc>
                <a:spcPct val="145000"/>
              </a:lnSpc>
              <a:buNone/>
            </a:pPr>
            <a:r>
              <a:rPr lang="en-US" sz="4050" b="1" spc="-6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mês.</a:t>
            </a:r>
            <a:endParaRPr lang="en-US" sz="4050" dirty="0"/>
          </a:p>
        </p:txBody>
      </p:sp>
      <p:sp>
        <p:nvSpPr>
          <p:cNvPr id="9" name="Shape 7"/>
          <p:cNvSpPr/>
          <p:nvPr/>
        </p:nvSpPr>
        <p:spPr>
          <a:xfrm>
            <a:off x="914400" y="2329755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329755"/>
            <a:ext cx="9525" cy="551601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3925" y="5082927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39238" y="2339280"/>
            <a:ext cx="9525" cy="275317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04925" y="2644080"/>
            <a:ext cx="65008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8415338" y="2644080"/>
            <a:ext cx="342900" cy="3429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1063" y="2729805"/>
            <a:ext cx="171450" cy="1714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04925" y="3312468"/>
            <a:ext cx="767691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137.242</a:t>
            </a:r>
            <a:endParaRPr lang="en-US" sz="7200" dirty="0"/>
          </a:p>
        </p:txBody>
      </p:sp>
      <p:sp>
        <p:nvSpPr>
          <p:cNvPr id="17" name="Text 14"/>
          <p:cNvSpPr/>
          <p:nvPr/>
        </p:nvSpPr>
        <p:spPr>
          <a:xfrm>
            <a:off x="1304925" y="4341168"/>
            <a:ext cx="4316730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termos de busca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analisados e classificados em intenção, nos últimos 30 dias.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9148763" y="5082927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7364075" y="2339280"/>
            <a:ext cx="9525" cy="275317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529763" y="2644080"/>
            <a:ext cx="118303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OPORTUNIDADE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16640175" y="2644080"/>
            <a:ext cx="342900" cy="3429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900" y="2729805"/>
            <a:ext cx="171450" cy="1714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529763" y="3312468"/>
            <a:ext cx="767691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R$ 12.109</a:t>
            </a:r>
            <a:endParaRPr lang="en-US" sz="7200" dirty="0"/>
          </a:p>
        </p:txBody>
      </p:sp>
      <p:sp>
        <p:nvSpPr>
          <p:cNvPr id="24" name="Text 20"/>
          <p:cNvSpPr/>
          <p:nvPr/>
        </p:nvSpPr>
        <p:spPr>
          <a:xfrm>
            <a:off x="9529763" y="4341168"/>
            <a:ext cx="4316730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termos eficientes subinvestidos + desperdício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identificados neste mês.</a:t>
            </a:r>
            <a:endParaRPr lang="en-US" sz="1275" dirty="0"/>
          </a:p>
        </p:txBody>
      </p:sp>
      <p:sp>
        <p:nvSpPr>
          <p:cNvPr id="25" name="Shape 21"/>
          <p:cNvSpPr/>
          <p:nvPr/>
        </p:nvSpPr>
        <p:spPr>
          <a:xfrm>
            <a:off x="923925" y="7836247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9139238" y="5092452"/>
            <a:ext cx="9525" cy="27533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1304925" y="5397252"/>
            <a:ext cx="336079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EFICIÊNCIA · SEARCH BRANDED · VELOCIDADE</a:t>
            </a:r>
            <a:endParaRPr lang="en-US" sz="825" dirty="0"/>
          </a:p>
        </p:txBody>
      </p:sp>
      <p:sp>
        <p:nvSpPr>
          <p:cNvPr id="28" name="Shape 24"/>
          <p:cNvSpPr/>
          <p:nvPr/>
        </p:nvSpPr>
        <p:spPr>
          <a:xfrm>
            <a:off x="8415338" y="5397252"/>
            <a:ext cx="342900" cy="3429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3" y="5482977"/>
            <a:ext cx="171450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04925" y="6040189"/>
            <a:ext cx="4294962" cy="9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21,7</a:t>
            </a:r>
            <a:pPr algn="l" indent="0" marL="0">
              <a:lnSpc>
                <a:spcPct val="100000"/>
              </a:lnSpc>
              <a:buNone/>
            </a:pPr>
            <a:r>
              <a:rPr lang="en-US" sz="3450" b="1" spc="-216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</a:t>
            </a:r>
            <a:endParaRPr lang="en-US" sz="7200" dirty="0"/>
          </a:p>
        </p:txBody>
      </p:sp>
      <p:sp>
        <p:nvSpPr>
          <p:cNvPr id="31" name="Text 26"/>
          <p:cNvSpPr/>
          <p:nvPr/>
        </p:nvSpPr>
        <p:spPr>
          <a:xfrm>
            <a:off x="1304925" y="7094488"/>
            <a:ext cx="4294962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ROAS na campanha branded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identificado e protegido como carro-chefe.</a:t>
            </a:r>
            <a:endParaRPr lang="en-US" sz="1275" dirty="0"/>
          </a:p>
        </p:txBody>
      </p:sp>
      <p:sp>
        <p:nvSpPr>
          <p:cNvPr id="32" name="Shape 27"/>
          <p:cNvSpPr/>
          <p:nvPr/>
        </p:nvSpPr>
        <p:spPr>
          <a:xfrm>
            <a:off x="5779591" y="6651427"/>
            <a:ext cx="9525" cy="88002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6017716" y="6651427"/>
            <a:ext cx="2822583" cy="661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3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4800" dirty="0"/>
          </a:p>
        </p:txBody>
      </p:sp>
      <p:sp>
        <p:nvSpPr>
          <p:cNvPr id="34" name="Text 29"/>
          <p:cNvSpPr/>
          <p:nvPr/>
        </p:nvSpPr>
        <p:spPr>
          <a:xfrm>
            <a:off x="6017716" y="7351514"/>
            <a:ext cx="2822583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análise completa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9148763" y="5092452"/>
            <a:ext cx="8224837" cy="27533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6" name="Shape 31"/>
          <p:cNvSpPr/>
          <p:nvPr/>
        </p:nvSpPr>
        <p:spPr>
          <a:xfrm>
            <a:off x="9148763" y="7836247"/>
            <a:ext cx="822483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9148763" y="5092452"/>
            <a:ext cx="8224837" cy="28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9148763" y="5092452"/>
            <a:ext cx="28575" cy="2753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17364075" y="5092452"/>
            <a:ext cx="9525" cy="2753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12899231" y="5964585"/>
            <a:ext cx="742950" cy="742950"/>
          </a:xfrm>
          <a:prstGeom prst="ellipse">
            <a:avLst/>
          </a:prstGeom>
          <a:ln w="9525">
            <a:solidFill>
              <a:srgbClr val="FFFFFF">
                <a:alpha val="18000"/>
              </a:srgbClr>
            </a:solidFill>
            <a:prstDash val="dash"/>
          </a:ln>
        </p:spPr>
      </p:sp>
      <p:sp>
        <p:nvSpPr>
          <p:cNvPr id="41" name="Text 36"/>
          <p:cNvSpPr/>
          <p:nvPr/>
        </p:nvSpPr>
        <p:spPr>
          <a:xfrm>
            <a:off x="12888813" y="6840885"/>
            <a:ext cx="839837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264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BREVE</a:t>
            </a:r>
            <a:endParaRPr lang="en-US" sz="825" dirty="0"/>
          </a:p>
        </p:txBody>
      </p:sp>
      <p:sp>
        <p:nvSpPr>
          <p:cNvPr id="42" name="Shape 37"/>
          <p:cNvSpPr/>
          <p:nvPr/>
        </p:nvSpPr>
        <p:spPr>
          <a:xfrm>
            <a:off x="914400" y="7979122"/>
            <a:ext cx="16459200" cy="971550"/>
          </a:xfrm>
          <a:prstGeom prst="roundRect">
            <a:avLst>
              <a:gd name="adj" fmla="val 13725"/>
            </a:avLst>
          </a:prstGeom>
          <a:solidFill>
            <a:srgbClr val="161616"/>
          </a:solidFill>
          <a:ln/>
        </p:spPr>
      </p:sp>
      <p:sp>
        <p:nvSpPr>
          <p:cNvPr id="43" name="Shape 38"/>
          <p:cNvSpPr/>
          <p:nvPr/>
        </p:nvSpPr>
        <p:spPr>
          <a:xfrm>
            <a:off x="914400" y="8941147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914400" y="7979122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914400" y="7979122"/>
            <a:ext cx="47625" cy="971550"/>
          </a:xfrm>
          <a:prstGeom prst="rect">
            <a:avLst/>
          </a:prstGeom>
          <a:solidFill>
            <a:srgbClr val="D94B4B"/>
          </a:solidFill>
          <a:ln/>
        </p:spPr>
      </p:sp>
      <p:sp>
        <p:nvSpPr>
          <p:cNvPr id="46" name="Shape 41"/>
          <p:cNvSpPr/>
          <p:nvPr/>
        </p:nvSpPr>
        <p:spPr>
          <a:xfrm>
            <a:off x="17364075" y="7979122"/>
            <a:ext cx="9525" cy="9715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1266825" y="8245822"/>
            <a:ext cx="438150" cy="43815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25" y="8360122"/>
            <a:ext cx="209550" cy="20955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971675" y="8160097"/>
            <a:ext cx="13229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95%</a:t>
            </a:r>
            <a:endParaRPr lang="en-US" sz="4800" dirty="0"/>
          </a:p>
        </p:txBody>
      </p:sp>
      <p:sp>
        <p:nvSpPr>
          <p:cNvPr id="50" name="Text 44"/>
          <p:cNvSpPr/>
          <p:nvPr/>
        </p:nvSpPr>
        <p:spPr>
          <a:xfrm>
            <a:off x="3485108" y="8353425"/>
            <a:ext cx="11352111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redução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esforço operacional estimada</a:t>
            </a:r>
            <a:endParaRPr lang="en-US" sz="1350" dirty="0"/>
          </a:p>
        </p:txBody>
      </p:sp>
      <p:sp>
        <p:nvSpPr>
          <p:cNvPr id="51" name="Text 45"/>
          <p:cNvSpPr/>
          <p:nvPr/>
        </p:nvSpPr>
        <p:spPr>
          <a:xfrm>
            <a:off x="14697075" y="8291661"/>
            <a:ext cx="2362200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spc="3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2–4h manuais para análise em tempo real</a:t>
            </a:r>
            <a:endParaRPr lang="en-US" sz="975" dirty="0"/>
          </a:p>
        </p:txBody>
      </p:sp>
      <p:sp>
        <p:nvSpPr>
          <p:cNvPr id="52" name="Shape 46"/>
          <p:cNvSpPr/>
          <p:nvPr/>
        </p:nvSpPr>
        <p:spPr>
          <a:xfrm>
            <a:off x="914400" y="9084022"/>
            <a:ext cx="16459200" cy="440978"/>
          </a:xfrm>
          <a:prstGeom prst="roundRect">
            <a:avLst>
              <a:gd name="adj" fmla="val 30240"/>
            </a:avLst>
          </a:prstGeom>
          <a:solidFill>
            <a:srgbClr val="D94B4B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129716" y="9257816"/>
            <a:ext cx="93242" cy="93242"/>
          </a:xfrm>
          <a:prstGeom prst="ellipse">
            <a:avLst/>
          </a:prstGeom>
          <a:solidFill>
            <a:srgbClr val="2ECC71">
              <a:alpha val="87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1371600" y="9207847"/>
            <a:ext cx="860295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3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produção </a:t>
            </a:r>
            <a:pPr algn="l" indent="0" marL="0">
              <a:lnSpc>
                <a:spcPct val="145000"/>
              </a:lnSpc>
              <a:buNone/>
            </a:pPr>
            <a:r>
              <a:rPr lang="en-US" sz="1050" spc="3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Últimos 30 dias · conta real Kokeshi / Gobeaute · </a:t>
            </a:r>
            <a:pPr algn="l" indent="0" marL="0">
              <a:lnSpc>
                <a:spcPct val="145000"/>
              </a:lnSpc>
              <a:buNone/>
            </a:pPr>
            <a:r>
              <a:rPr lang="en-US" sz="1050" b="1" spc="32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R$ 104.481 </a:t>
            </a:r>
            <a:pPr algn="l" indent="0" marL="0">
              <a:lnSpc>
                <a:spcPct val="145000"/>
              </a:lnSpc>
              <a:buNone/>
            </a:pPr>
            <a:r>
              <a:rPr lang="en-US" sz="1050" spc="3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investimento gerenciado no período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47130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789533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037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9667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escala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726942" y="457200"/>
            <a:ext cx="72285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KOKESHI É SÓ O COMEÇO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31578"/>
            <a:ext cx="16952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marca hoje. 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Oito amanhã.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2517428"/>
            <a:ext cx="1177290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arquitetura do GoTrends é por contexto de negócio. Trocar de marca é trocar um arquivo — não reconstruir o sistema.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734544"/>
            <a:ext cx="16952976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GOBEAUTE · 7 MARCAS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9144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D94B4B">
              <a:alpha val="18000"/>
            </a:srgbClr>
          </a:solidFill>
          <a:ln w="9525">
            <a:solidFill>
              <a:srgbClr val="D9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5545" y="4456361"/>
            <a:ext cx="3036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44067" y="4875461"/>
            <a:ext cx="62641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Kokeshi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53952" y="3972074"/>
            <a:ext cx="536823" cy="238571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 w="9525">
            <a:solidFill>
              <a:srgbClr val="D9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9202" y="4029224"/>
            <a:ext cx="422523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ATIVO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25527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8820" y="4456361"/>
            <a:ext cx="233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988915" y="4875461"/>
            <a:ext cx="61347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Lescent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252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05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41910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067" y="4456361"/>
            <a:ext cx="3217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696420" y="4875461"/>
            <a:ext cx="47505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Ápice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635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88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58293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3868" y="4456361"/>
            <a:ext cx="2967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198989" y="4875461"/>
            <a:ext cx="74652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Barbour's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018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71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4676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2466" y="4456361"/>
            <a:ext cx="2960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7894588" y="4875461"/>
            <a:ext cx="63177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Rituária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401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54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91059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06273" y="4456361"/>
            <a:ext cx="2851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481542" y="4875461"/>
            <a:ext cx="73461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Samia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784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737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107442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326267" y="4456361"/>
            <a:ext cx="3217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1307961" y="4875461"/>
            <a:ext cx="3583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Auá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15167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0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12382500" y="4057799"/>
            <a:ext cx="19050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2889855" y="4513511"/>
            <a:ext cx="9664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36" kern="0" dirty="0">
                <a:solidFill>
                  <a:srgbClr val="6B6B6B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gocase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798623" y="4818311"/>
            <a:ext cx="114880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outro vertical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3455402" y="3972074"/>
            <a:ext cx="898773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50652" y="4029224"/>
            <a:ext cx="784473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COMPATÍVEL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914400" y="5848499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6200924"/>
            <a:ext cx="627888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 infraestrutura. </a:t>
            </a:r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Novo cliente interno.</a:t>
            </a:r>
            <a:endParaRPr lang="en-US" sz="3150" dirty="0"/>
          </a:p>
        </p:txBody>
      </p:sp>
      <p:sp>
        <p:nvSpPr>
          <p:cNvPr id="53" name="Text 51"/>
          <p:cNvSpPr/>
          <p:nvPr/>
        </p:nvSpPr>
        <p:spPr>
          <a:xfrm>
            <a:off x="914400" y="7252246"/>
            <a:ext cx="569023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marca tem o seu ticket, o seu calendário e o seu vocabulário. O agente do GoTrends carrega esse contexto e o motor de decisão se mantém. Sem reescrever pipeline. Sem refazer integração.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9826079" y="6657529"/>
            <a:ext cx="7547521" cy="890885"/>
          </a:xfrm>
          <a:prstGeom prst="roundRect">
            <a:avLst>
              <a:gd name="adj" fmla="val 1924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338745" y="6667054"/>
            <a:ext cx="9525" cy="87183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045154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TROCA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0045154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 de contexto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14851410" y="6667054"/>
            <a:ext cx="9525" cy="87183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2557820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MANTÉM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2557820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· agente · stack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15070485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5070485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Nova marca operando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7239" y="457200"/>
            <a:ext cx="72256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4400" y="3076129"/>
            <a:ext cx="15697200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analista continua aqui. Agora com o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D94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contexto do negócio inteiro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mesa.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914400" y="7029450"/>
            <a:ext cx="114300" cy="11430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5" name="Text 3"/>
          <p:cNvSpPr/>
          <p:nvPr/>
        </p:nvSpPr>
        <p:spPr>
          <a:xfrm>
            <a:off x="1162050" y="6962329"/>
            <a:ext cx="6503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432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 · PILOTO KOKESHI · GOBEAUTE · 2026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2931" y="9220200"/>
            <a:ext cx="457200" cy="45720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23481" y="9352062"/>
            <a:ext cx="102631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GOTRENDS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2026-04-25T13:10:15Z</dcterms:created>
  <dcterms:modified xsi:type="dcterms:W3CDTF">2026-04-25T13:10:15Z</dcterms:modified>
</cp:coreProperties>
</file>